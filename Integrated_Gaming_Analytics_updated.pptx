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122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7122B"/>
                </a:solidFill>
                <a:latin typeface="Arial"/>
              </a:rPr>
              <a:t>Average playtime by price group (minutes)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playtime (min)</c:v>
                </c:pt>
              </c:strCache>
            </c:strRef>
          </c:tx>
          <c:spPr>
            <a:solidFill>
              <a:srgbClr val="6C4CF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7122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Free</c:v>
                </c:pt>
                <c:pt idx="1">
                  <c:v>Low</c:v>
                </c:pt>
                <c:pt idx="2">
                  <c:v>Medium</c:v>
                </c:pt>
                <c:pt idx="3">
                  <c:v>High</c:v>
                </c:pt>
                <c:pt idx="4">
                  <c:v>Very High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174.87</c:v>
                </c:pt>
                <c:pt idx="1">
                  <c:v>232.44</c:v>
                </c:pt>
                <c:pt idx="2">
                  <c:v>286.29000000000002</c:v>
                </c:pt>
                <c:pt idx="3">
                  <c:v>249.77</c:v>
                </c:pt>
                <c:pt idx="4">
                  <c:v>298.48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0E-42AA-B720-A7B647CE98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5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40"/>
        </c:scaling>
        <c:delete val="0"/>
        <c:axPos val="l"/>
        <c:majorGridlines>
          <c:spPr>
            <a:ln w="9525" cap="flat">
              <a:solidFill>
                <a:srgbClr val="E4E1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5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122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7122B"/>
                </a:solidFill>
                <a:latin typeface="Arial"/>
              </a:rPr>
              <a:t>Top 10 genres by average playtime (minutes)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playtime (min)</c:v>
                </c:pt>
              </c:strCache>
            </c:strRef>
          </c:tx>
          <c:spPr>
            <a:solidFill>
              <a:srgbClr val="22C99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17122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Free To Play</c:v>
                </c:pt>
                <c:pt idx="1">
                  <c:v>Photo Editing</c:v>
                </c:pt>
                <c:pt idx="2">
                  <c:v>Design &amp; Illustr.</c:v>
                </c:pt>
                <c:pt idx="3">
                  <c:v>Software Training</c:v>
                </c:pt>
                <c:pt idx="4">
                  <c:v>Anim. &amp; Modeling</c:v>
                </c:pt>
                <c:pt idx="5">
                  <c:v>Racing</c:v>
                </c:pt>
                <c:pt idx="6">
                  <c:v>Utilities</c:v>
                </c:pt>
                <c:pt idx="7">
                  <c:v>Video Production</c:v>
                </c:pt>
                <c:pt idx="8">
                  <c:v>Web Publishing</c:v>
                </c:pt>
                <c:pt idx="9">
                  <c:v>Audio Production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626.54</c:v>
                </c:pt>
                <c:pt idx="1">
                  <c:v>719.47</c:v>
                </c:pt>
                <c:pt idx="2">
                  <c:v>850.71</c:v>
                </c:pt>
                <c:pt idx="3">
                  <c:v>910.2</c:v>
                </c:pt>
                <c:pt idx="4">
                  <c:v>910.34</c:v>
                </c:pt>
                <c:pt idx="5">
                  <c:v>962.25</c:v>
                </c:pt>
                <c:pt idx="6">
                  <c:v>1081.58</c:v>
                </c:pt>
                <c:pt idx="7">
                  <c:v>1494.57</c:v>
                </c:pt>
                <c:pt idx="8">
                  <c:v>1649.19</c:v>
                </c:pt>
                <c:pt idx="9">
                  <c:v>2072.9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BC-4272-AAD1-46325BB2D3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A35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400"/>
        </c:scaling>
        <c:delete val="0"/>
        <c:axPos val="b"/>
        <c:majorGridlines>
          <c:spPr>
            <a:ln w="9525" cap="flat">
              <a:solidFill>
                <a:srgbClr val="E4E1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75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122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7122B"/>
                </a:solidFill>
                <a:latin typeface="Arial"/>
              </a:rPr>
              <a:t>Average playtime by game type (minutes)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playtime (min)</c:v>
                </c:pt>
              </c:strCache>
            </c:strRef>
          </c:tx>
          <c:spPr>
            <a:solidFill>
              <a:srgbClr val="6C4CF1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C4C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F89-41E3-AF10-A7F90FC26241}"/>
              </c:ext>
            </c:extLst>
          </c:dPt>
          <c:dPt>
            <c:idx val="1"/>
            <c:invertIfNegative val="0"/>
            <c:bubble3D val="0"/>
            <c:spPr>
              <a:solidFill>
                <a:srgbClr val="B9A9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F89-41E3-AF10-A7F90FC2624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7122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Multiplayer</c:v>
                </c:pt>
                <c:pt idx="1">
                  <c:v>Single / Other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332.94</c:v>
                </c:pt>
                <c:pt idx="1">
                  <c:v>191.87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F89-41E3-AF10-A7F90FC262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5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"/>
        </c:scaling>
        <c:delete val="0"/>
        <c:axPos val="l"/>
        <c:majorGridlines>
          <c:spPr>
            <a:ln w="9525" cap="flat">
              <a:solidFill>
                <a:srgbClr val="E4E1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5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122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7122B"/>
                </a:solidFill>
                <a:latin typeface="Arial"/>
              </a:rPr>
              <a:t>Top 10 publishers by estimated owners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Estimated owners</c:v>
                </c:pt>
              </c:strCache>
            </c:strRef>
          </c:tx>
          <c:spPr>
            <a:solidFill>
              <a:srgbClr val="6C4CF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7122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Paradox Interactive</c:v>
                </c:pt>
                <c:pt idx="1">
                  <c:v>Ubisoft</c:v>
                </c:pt>
                <c:pt idx="2">
                  <c:v>NetEase Games</c:v>
                </c:pt>
                <c:pt idx="3">
                  <c:v>Rockstar Games</c:v>
                </c:pt>
                <c:pt idx="4">
                  <c:v>Facepunch Studios</c:v>
                </c:pt>
                <c:pt idx="5">
                  <c:v>Irox Games</c:v>
                </c:pt>
                <c:pt idx="6">
                  <c:v>FromSoftware · Bandai Namco</c:v>
                </c:pt>
                <c:pt idx="7">
                  <c:v>Electronic Arts</c:v>
                </c:pt>
                <c:pt idx="8">
                  <c:v>KRAFTON, Inc.</c:v>
                </c:pt>
                <c:pt idx="9">
                  <c:v>Valve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100981</c:v>
                </c:pt>
                <c:pt idx="1">
                  <c:v>102237</c:v>
                </c:pt>
                <c:pt idx="2">
                  <c:v>107043</c:v>
                </c:pt>
                <c:pt idx="3">
                  <c:v>143251</c:v>
                </c:pt>
                <c:pt idx="4">
                  <c:v>143874</c:v>
                </c:pt>
                <c:pt idx="5">
                  <c:v>164168</c:v>
                </c:pt>
                <c:pt idx="6">
                  <c:v>200388</c:v>
                </c:pt>
                <c:pt idx="7">
                  <c:v>271915</c:v>
                </c:pt>
                <c:pt idx="8">
                  <c:v>318385</c:v>
                </c:pt>
                <c:pt idx="9">
                  <c:v>1747760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3B-4571-9236-CA58A83AEC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3A35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0000"/>
        </c:scaling>
        <c:delete val="0"/>
        <c:axPos val="b"/>
        <c:majorGridlines>
          <c:spPr>
            <a:ln w="9525" cap="flat">
              <a:solidFill>
                <a:srgbClr val="E4E1EF"/>
              </a:solidFill>
              <a:prstDash val="solid"/>
              <a:round/>
            </a:ln>
          </c:spPr>
        </c:majorGridlines>
        <c:numFmt formatCode="#,##0,\K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75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122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7122B"/>
                </a:solidFill>
                <a:latin typeface="Arial"/>
              </a:rPr>
              <a:t>Top 10 platforms by global sales (million units)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sales (M units)</c:v>
                </c:pt>
              </c:strCache>
            </c:strRef>
          </c:tx>
          <c:spPr>
            <a:solidFill>
              <a:srgbClr val="22C99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7122B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PS2</c:v>
                </c:pt>
                <c:pt idx="1">
                  <c:v>X360</c:v>
                </c:pt>
                <c:pt idx="2">
                  <c:v>PS3</c:v>
                </c:pt>
                <c:pt idx="3">
                  <c:v>Wii</c:v>
                </c:pt>
                <c:pt idx="4">
                  <c:v>DS</c:v>
                </c:pt>
                <c:pt idx="5">
                  <c:v>PS</c:v>
                </c:pt>
                <c:pt idx="6">
                  <c:v>GBA</c:v>
                </c:pt>
                <c:pt idx="7">
                  <c:v>PSP</c:v>
                </c:pt>
                <c:pt idx="8">
                  <c:v>PS4</c:v>
                </c:pt>
                <c:pt idx="9">
                  <c:v>PC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1255.6400000000001</c:v>
                </c:pt>
                <c:pt idx="1">
                  <c:v>979.96</c:v>
                </c:pt>
                <c:pt idx="2">
                  <c:v>957.84</c:v>
                </c:pt>
                <c:pt idx="3">
                  <c:v>926.71</c:v>
                </c:pt>
                <c:pt idx="4">
                  <c:v>822.49</c:v>
                </c:pt>
                <c:pt idx="5">
                  <c:v>730.66</c:v>
                </c:pt>
                <c:pt idx="6">
                  <c:v>318.5</c:v>
                </c:pt>
                <c:pt idx="7">
                  <c:v>296.27999999999997</c:v>
                </c:pt>
                <c:pt idx="8">
                  <c:v>278.10000000000002</c:v>
                </c:pt>
                <c:pt idx="9">
                  <c:v>258.82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64-4982-BC2A-7D9DFBEE2C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5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400"/>
        </c:scaling>
        <c:delete val="0"/>
        <c:axPos val="l"/>
        <c:majorGridlines>
          <c:spPr>
            <a:ln w="9525" cap="flat">
              <a:solidFill>
                <a:srgbClr val="E4E1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75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122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7122B"/>
                </a:solidFill>
                <a:latin typeface="Arial"/>
              </a:rPr>
              <a:t>Regional sales by genre (million units)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North America</c:v>
                </c:pt>
              </c:strCache>
            </c:strRef>
          </c:tx>
          <c:spPr>
            <a:solidFill>
              <a:srgbClr val="6C4CF1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Action</c:v>
                </c:pt>
                <c:pt idx="1">
                  <c:v>Sports</c:v>
                </c:pt>
                <c:pt idx="2">
                  <c:v>Shooter</c:v>
                </c:pt>
                <c:pt idx="3">
                  <c:v>Role-Playing</c:v>
                </c:pt>
                <c:pt idx="4">
                  <c:v>Platform</c:v>
                </c:pt>
                <c:pt idx="5">
                  <c:v>Racing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877.83</c:v>
                </c:pt>
                <c:pt idx="1">
                  <c:v>683.35</c:v>
                </c:pt>
                <c:pt idx="2">
                  <c:v>582.6</c:v>
                </c:pt>
                <c:pt idx="3">
                  <c:v>327.27999999999997</c:v>
                </c:pt>
                <c:pt idx="4">
                  <c:v>447.05</c:v>
                </c:pt>
                <c:pt idx="5">
                  <c:v>359.42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2B-4A2B-A6CA-FBE688FC7A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Europe</c:v>
                </c:pt>
              </c:strCache>
            </c:strRef>
          </c:tx>
          <c:spPr>
            <a:solidFill>
              <a:srgbClr val="22C99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Action</c:v>
                </c:pt>
                <c:pt idx="1">
                  <c:v>Sports</c:v>
                </c:pt>
                <c:pt idx="2">
                  <c:v>Shooter</c:v>
                </c:pt>
                <c:pt idx="3">
                  <c:v>Role-Playing</c:v>
                </c:pt>
                <c:pt idx="4">
                  <c:v>Platform</c:v>
                </c:pt>
                <c:pt idx="5">
                  <c:v>Racing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525</c:v>
                </c:pt>
                <c:pt idx="1">
                  <c:v>376.85</c:v>
                </c:pt>
                <c:pt idx="2">
                  <c:v>313.27</c:v>
                </c:pt>
                <c:pt idx="3">
                  <c:v>188.06</c:v>
                </c:pt>
                <c:pt idx="4">
                  <c:v>201.63</c:v>
                </c:pt>
                <c:pt idx="5">
                  <c:v>238.39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2B-4A2B-A6CA-FBE688FC7AE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Japan</c:v>
                </c:pt>
              </c:strCache>
            </c:strRef>
          </c:tx>
          <c:spPr>
            <a:solidFill>
              <a:srgbClr val="F2A93B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Action</c:v>
                </c:pt>
                <c:pt idx="1">
                  <c:v>Sports</c:v>
                </c:pt>
                <c:pt idx="2">
                  <c:v>Shooter</c:v>
                </c:pt>
                <c:pt idx="3">
                  <c:v>Role-Playing</c:v>
                </c:pt>
                <c:pt idx="4">
                  <c:v>Platform</c:v>
                </c:pt>
                <c:pt idx="5">
                  <c:v>Racing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159.94999999999999</c:v>
                </c:pt>
                <c:pt idx="1">
                  <c:v>135.37</c:v>
                </c:pt>
                <c:pt idx="2">
                  <c:v>38.28</c:v>
                </c:pt>
                <c:pt idx="3">
                  <c:v>352.31</c:v>
                </c:pt>
                <c:pt idx="4">
                  <c:v>130.77000000000001</c:v>
                </c:pt>
                <c:pt idx="5">
                  <c:v>56.69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22B-4A2B-A6CA-FBE688FC7A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355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1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75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solidFill>
                <a:srgbClr val="3A355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4327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1.png"/><Relationship Id="rId7" Type="http://schemas.openxmlformats.org/officeDocument/2006/relationships/image" Target="../media/image28.png"/><Relationship Id="rId8" Type="http://schemas.openxmlformats.org/officeDocument/2006/relationships/image" Target="../media/image11.png"/><Relationship Id="rId9" Type="http://schemas.openxmlformats.org/officeDocument/2006/relationships/image" Target="../media/image13.png"/><Relationship Id="rId10" Type="http://schemas.openxmlformats.org/officeDocument/2006/relationships/image" Target="../media/image16.png"/><Relationship Id="rId11" Type="http://schemas.openxmlformats.org/officeDocument/2006/relationships/image" Target="../media/image12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3.xml"/><Relationship Id="rId4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6.png"/><Relationship Id="rId7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937760" cy="4937760"/>
          </a:xfrm>
          <a:prstGeom prst="ellipse">
            <a:avLst/>
          </a:prstGeom>
          <a:solidFill>
            <a:srgbClr val="6C4CF1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4480560"/>
            <a:ext cx="4206240" cy="4206240"/>
          </a:xfrm>
          <a:prstGeom prst="ellipse">
            <a:avLst/>
          </a:prstGeom>
          <a:solidFill>
            <a:srgbClr val="22C99B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914400"/>
            <a:ext cx="822960" cy="822960"/>
          </a:xfrm>
          <a:prstGeom prst="ellipse">
            <a:avLst/>
          </a:prstGeom>
          <a:solidFill>
            <a:srgbClr val="6C4C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30" y="112837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05081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C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MSC DATA SCIENCE  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442725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Gaming Analytics Dashboard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94360" y="3918843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Unifying Steam engagement data and global sales into one analytical platform — from raw data to machine-learning-driven insight.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94360" y="4892040"/>
            <a:ext cx="11000232" cy="0"/>
          </a:xfrm>
          <a:prstGeom prst="line">
            <a:avLst/>
          </a:prstGeom>
          <a:noFill/>
          <a:ln w="12700">
            <a:solidFill>
              <a:srgbClr val="3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5074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Hitesh Venkata Sai Manchala  ·  Tarun Mikkilineni  ·  Abinav Reddy Tirumala  ·  Madhavapeddy Achyuth Reddy  ·  Navaneeth Narayanan Potty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CF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Dr. Farhan Khan — Data Analytics  ·  University of Europe for Applied Sciences, Germany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data, unanswered questions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5029200" cy="4663440"/>
          </a:xfrm>
          <a:prstGeom prst="roundRect">
            <a:avLst>
              <a:gd name="adj" fmla="val 1765"/>
            </a:avLst>
          </a:prstGeom>
          <a:solidFill>
            <a:srgbClr val="171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6C4C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20866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933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4434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F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platforms generate enormous data on sales, engagement, reviews, pricing and platform usage — but it sits fragmented across sources, making comprehensive analysis and decision-making difficult.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14400" y="452628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22C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factors actually drive player engagement and game popularity — price, genre, reviews, ownership, or release timing?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08076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080760" y="2103120"/>
            <a:ext cx="475488" cy="475488"/>
          </a:xfrm>
          <a:prstGeom prst="ellipse">
            <a:avLst/>
          </a:prstGeom>
          <a:solidFill>
            <a:srgbClr val="EDE9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4387" y="2226747"/>
            <a:ext cx="228234" cy="22823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20840" y="208483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&amp; clean three raw Steam / sales datasets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080760" y="2816352"/>
            <a:ext cx="475488" cy="475488"/>
          </a:xfrm>
          <a:prstGeom prst="ellipse">
            <a:avLst/>
          </a:prstGeom>
          <a:solidFill>
            <a:srgbClr val="EDE9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4387" y="2939979"/>
            <a:ext cx="228234" cy="2282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20840" y="2798064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patterns via EDA across price, genre &amp; reviews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080760" y="3529584"/>
            <a:ext cx="475488" cy="475488"/>
          </a:xfrm>
          <a:prstGeom prst="ellipse">
            <a:avLst/>
          </a:prstGeom>
          <a:solidFill>
            <a:srgbClr val="EDE9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4387" y="3653211"/>
            <a:ext cx="228234" cy="22823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20840" y="3511296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 that sharpen predictive power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080760" y="4242816"/>
            <a:ext cx="475488" cy="475488"/>
          </a:xfrm>
          <a:prstGeom prst="ellipse">
            <a:avLst/>
          </a:prstGeom>
          <a:solidFill>
            <a:srgbClr val="EDE9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4387" y="4366443"/>
            <a:ext cx="228234" cy="22823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720840" y="4224528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ML models that predict player engagement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6080760" y="4956048"/>
            <a:ext cx="475488" cy="475488"/>
          </a:xfrm>
          <a:prstGeom prst="ellipse">
            <a:avLst/>
          </a:prstGeom>
          <a:solidFill>
            <a:srgbClr val="EDE9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4387" y="5079675"/>
            <a:ext cx="228234" cy="22823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720840" y="493776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MAE, MSE, RMSE and R² metrics</a:t>
            </a:r>
            <a:endParaRPr lang="en-US" sz="1350" dirty="0"/>
          </a:p>
        </p:txBody>
      </p:sp>
      <p:sp>
        <p:nvSpPr>
          <p:cNvPr id="26" name="Shape 18"/>
          <p:cNvSpPr/>
          <p:nvPr/>
        </p:nvSpPr>
        <p:spPr>
          <a:xfrm>
            <a:off x="6080760" y="5669280"/>
            <a:ext cx="475488" cy="475488"/>
          </a:xfrm>
          <a:prstGeom prst="ellipse">
            <a:avLst/>
          </a:prstGeom>
          <a:solidFill>
            <a:srgbClr val="EDE9F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4387" y="5792907"/>
            <a:ext cx="228234" cy="22823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720840" y="565099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business insights for developers &amp; publishers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datasets, one unified platform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EDE9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566928" cy="566928"/>
          </a:xfrm>
          <a:prstGeom prst="ellipse">
            <a:avLst/>
          </a:prstGeom>
          <a:solidFill>
            <a:srgbClr val="6C4C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81" y="21133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697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games.csv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0632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122,611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68680" y="3657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· 39 attributes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3977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peak concurrent users, reviews, playtime, developers, publishers, categories and genres.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16552" y="169164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E4F8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690872" y="1965960"/>
            <a:ext cx="566928" cy="566928"/>
          </a:xfrm>
          <a:prstGeom prst="ellipse">
            <a:avLst/>
          </a:prstGeom>
          <a:solidFill>
            <a:srgbClr val="22C99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273" y="2113361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90872" y="2697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steam.csv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90872" y="30632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C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27,075</a:t>
            </a:r>
            <a:endParaRPr lang="en-US" sz="3400" dirty="0"/>
          </a:p>
        </p:txBody>
      </p:sp>
      <p:sp>
        <p:nvSpPr>
          <p:cNvPr id="16" name="Text 12"/>
          <p:cNvSpPr/>
          <p:nvPr/>
        </p:nvSpPr>
        <p:spPr>
          <a:xfrm>
            <a:off x="4690872" y="3657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· 18 attributes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690872" y="3977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estimates, ratings, average playtime, genres, developers and publishers.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238744" y="1691640"/>
            <a:ext cx="3520440" cy="3291840"/>
          </a:xfrm>
          <a:prstGeom prst="roundRect">
            <a:avLst>
              <a:gd name="adj" fmla="val 2500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513064" y="196596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0465" y="2113361"/>
            <a:ext cx="272125" cy="2721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13064" y="2697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steam_description_data.csv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513064" y="30632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27,334</a:t>
            </a:r>
            <a:endParaRPr lang="en-US" sz="3400" dirty="0"/>
          </a:p>
        </p:txBody>
      </p:sp>
      <p:sp>
        <p:nvSpPr>
          <p:cNvPr id="23" name="Text 18"/>
          <p:cNvSpPr/>
          <p:nvPr/>
        </p:nvSpPr>
        <p:spPr>
          <a:xfrm>
            <a:off x="8513064" y="36576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· text metadata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513064" y="3977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descriptions and metadata — a base for future NLP analysis of reviews and content.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594360" y="5257800"/>
            <a:ext cx="11000232" cy="1005840"/>
          </a:xfrm>
          <a:prstGeom prst="roundRect">
            <a:avLst>
              <a:gd name="adj" fmla="val 8182"/>
            </a:avLst>
          </a:prstGeom>
          <a:solidFill>
            <a:srgbClr val="171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914400" y="52578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C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Integration:  </a:t>
            </a:r>
            <a:r>
              <a:rPr lang="en-US" sz="1350" dirty="0">
                <a:solidFill>
                  <a:srgbClr val="CF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repairing a structural header defect in games.csv, all datasets were cleaned and merged on Steam app ID and normalized game name into a single master table of 122,610 games — engagement, reviews, pricing and global sales in one analytical view.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data to interactive dashboard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1700784" cy="2651760"/>
          </a:xfrm>
          <a:prstGeom prst="roundRect">
            <a:avLst>
              <a:gd name="adj" fmla="val 4301"/>
            </a:avLst>
          </a:prstGeom>
          <a:solidFill>
            <a:srgbClr val="EDE9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70432" y="2176272"/>
            <a:ext cx="548640" cy="548640"/>
          </a:xfrm>
          <a:prstGeom prst="ellipse">
            <a:avLst/>
          </a:prstGeom>
          <a:solidFill>
            <a:srgbClr val="6C4C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078" y="2318918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3464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85800" y="3090672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22376" y="3456432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Steam &amp; sales datasets via Pandas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59736" y="1920240"/>
            <a:ext cx="1700784" cy="2651760"/>
          </a:xfrm>
          <a:prstGeom prst="roundRect">
            <a:avLst>
              <a:gd name="adj" fmla="val 4301"/>
            </a:avLst>
          </a:prstGeom>
          <a:solidFill>
            <a:srgbClr val="E4F8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035808" y="2176272"/>
            <a:ext cx="548640" cy="548640"/>
          </a:xfrm>
          <a:prstGeom prst="ellipse">
            <a:avLst/>
          </a:prstGeom>
          <a:solidFill>
            <a:srgbClr val="22C99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8454" y="2318918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96896" y="283464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551176" y="3090672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587752" y="3456432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columns, fix types, drop duplicates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325112" y="1920240"/>
            <a:ext cx="1700784" cy="2651760"/>
          </a:xfrm>
          <a:prstGeom prst="roundRect">
            <a:avLst>
              <a:gd name="adj" fmla="val 4301"/>
            </a:avLst>
          </a:prstGeom>
          <a:solidFill>
            <a:srgbClr val="EDE9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901184" y="2176272"/>
            <a:ext cx="548640" cy="548640"/>
          </a:xfrm>
          <a:prstGeom prst="ellipse">
            <a:avLst/>
          </a:prstGeom>
          <a:solidFill>
            <a:srgbClr val="6C4C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830" y="2318918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62272" y="283464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416552" y="3090672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453128" y="3456432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on name, app ID, genre, publisher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190488" y="1920240"/>
            <a:ext cx="1700784" cy="2651760"/>
          </a:xfrm>
          <a:prstGeom prst="roundRect">
            <a:avLst>
              <a:gd name="adj" fmla="val 4301"/>
            </a:avLst>
          </a:prstGeom>
          <a:solidFill>
            <a:srgbClr val="E4F8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766560" y="2176272"/>
            <a:ext cx="548640" cy="548640"/>
          </a:xfrm>
          <a:prstGeom prst="ellipse">
            <a:avLst/>
          </a:prstGeom>
          <a:solidFill>
            <a:srgbClr val="22C99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9206" y="2318918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27648" y="283464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281928" y="3090672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318504" y="3456432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groups, rating ratios, release years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8055864" y="1920240"/>
            <a:ext cx="1700784" cy="2651760"/>
          </a:xfrm>
          <a:prstGeom prst="roundRect">
            <a:avLst>
              <a:gd name="adj" fmla="val 4301"/>
            </a:avLst>
          </a:prstGeom>
          <a:solidFill>
            <a:srgbClr val="EDE9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8631936" y="2176272"/>
            <a:ext cx="548640" cy="548640"/>
          </a:xfrm>
          <a:prstGeom prst="ellipse">
            <a:avLst/>
          </a:prstGeom>
          <a:solidFill>
            <a:srgbClr val="6C4C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4582" y="2318918"/>
            <a:ext cx="263347" cy="26334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193024" y="283464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8147304" y="3090672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8183880" y="3456432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distributions, correlations, trends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9921240" y="1920240"/>
            <a:ext cx="1700784" cy="2651760"/>
          </a:xfrm>
          <a:prstGeom prst="roundRect">
            <a:avLst>
              <a:gd name="adj" fmla="val 4301"/>
            </a:avLst>
          </a:prstGeom>
          <a:solidFill>
            <a:srgbClr val="E4F8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10497312" y="2176272"/>
            <a:ext cx="548640" cy="548640"/>
          </a:xfrm>
          <a:prstGeom prst="ellipse">
            <a:avLst/>
          </a:prstGeom>
          <a:solidFill>
            <a:srgbClr val="22C99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39958" y="2318918"/>
            <a:ext cx="263347" cy="263347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058400" y="283464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A75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10012680" y="3090672"/>
            <a:ext cx="1517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10049256" y="3456432"/>
            <a:ext cx="1444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evaluate regression models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594360" y="4983480"/>
            <a:ext cx="11000232" cy="1234440"/>
          </a:xfrm>
          <a:prstGeom prst="roundRect">
            <a:avLst>
              <a:gd name="adj" fmla="val 6667"/>
            </a:avLst>
          </a:prstGeom>
          <a:solidFill>
            <a:srgbClr val="171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3"/>
          <p:cNvSpPr/>
          <p:nvPr/>
        </p:nvSpPr>
        <p:spPr>
          <a:xfrm>
            <a:off x="914400" y="5193792"/>
            <a:ext cx="822960" cy="822960"/>
          </a:xfrm>
          <a:prstGeom prst="ellipse">
            <a:avLst/>
          </a:prstGeom>
          <a:solidFill>
            <a:srgbClr val="6C4C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8370" y="5407762"/>
            <a:ext cx="395021" cy="395021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965960" y="4983480"/>
            <a:ext cx="9509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Integrated Gaming Analytics Dashboard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dashboard — three pages (Overview · Engagement · Sales &amp; Publishers) with KPI cards, cross-filtering visuals and slicers for genre, price band and release year.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raw fields into predictive signals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EDE9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229624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92808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7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groups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Low · Medium · Premium bands to compare engagement across pricing strategies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783080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E4F8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492240" y="21488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641" y="229624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892808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7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rating ratio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÷ total reviews as a clean measure of player satisfaction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94360" y="3264408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EDE9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822960" y="363016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361" y="3777569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3374136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7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year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from release dates to expose long-term popularity trends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263640" y="3264408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E4F8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492240" y="363016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9641" y="3777569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69480" y="3374136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7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flag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game categories to compare multiplayer vs single-player retention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94360" y="4745736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EDE9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822960" y="511149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361" y="5258897"/>
            <a:ext cx="272125" cy="2721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00200" y="4855464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7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Popularity score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of ownership, reviews and player activity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263640" y="4745736"/>
            <a:ext cx="5349240" cy="1298448"/>
          </a:xfrm>
          <a:prstGeom prst="roundRect">
            <a:avLst>
              <a:gd name="adj" fmla="val 5634"/>
            </a:avLst>
          </a:prstGeom>
          <a:solidFill>
            <a:srgbClr val="E4F8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6492240" y="511149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9641" y="5258897"/>
            <a:ext cx="272125" cy="27212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269480" y="4855464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7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encoding</a:t>
            </a:r>
            <a:endParaRPr lang="en-US" sz="1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and label encoding to make genres model-ready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revealed first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DE9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603504" cy="603504"/>
          </a:xfrm>
          <a:prstGeom prst="ellipse">
            <a:avLst/>
          </a:prstGeom>
          <a:solidFill>
            <a:srgbClr val="6C4C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591" y="221431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756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Prices skew low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91640" y="246888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Steam games sit at the lower end of the market — free-to-play titles are a significant share of the platform.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4F8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37960" y="2057400"/>
            <a:ext cx="603504" cy="603504"/>
          </a:xfrm>
          <a:prstGeom prst="ellipse">
            <a:avLst/>
          </a:prstGeom>
          <a:solidFill>
            <a:srgbClr val="22C99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871" y="2214311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0756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Genres that grip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60920" y="246888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Action, Adventure and Strategy show consistently high engagement across the catalogue.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37490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4F8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68680" y="4023360"/>
            <a:ext cx="603504" cy="603504"/>
          </a:xfrm>
          <a:prstGeom prst="ellipse">
            <a:avLst/>
          </a:prstGeom>
          <a:solidFill>
            <a:srgbClr val="22C99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591" y="4180271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416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matter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91640" y="443484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with higher positive-review ratios generally achieve higher popularity.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37490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DE9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37960" y="4023360"/>
            <a:ext cx="603504" cy="603504"/>
          </a:xfrm>
          <a:prstGeom prst="ellipse">
            <a:avLst/>
          </a:prstGeom>
          <a:solidFill>
            <a:srgbClr val="6C4C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4871" y="4180271"/>
            <a:ext cx="289682" cy="2896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0416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counts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60920" y="4434840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activity varies significantly across release periods.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94360" y="5897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A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Toolkit: histograms, bar charts, scatter plots, box plots and correlation heatmaps (Matplotlib).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C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popularity from game attributes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5120640" cy="2011680"/>
          </a:xfrm>
          <a:prstGeom prst="roundRect">
            <a:avLst>
              <a:gd name="adj" fmla="val 4091"/>
            </a:avLst>
          </a:prstGeom>
          <a:solidFill>
            <a:srgbClr val="241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603504" cy="603504"/>
          </a:xfrm>
          <a:prstGeom prst="ellipse">
            <a:avLst/>
          </a:prstGeom>
          <a:solidFill>
            <a:srgbClr val="6C4C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591" y="212287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29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variable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C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Concurrent Users (Peak CCU)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1272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clearest single indicator of overall player activity and game popularity.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" y="3931920"/>
            <a:ext cx="5120640" cy="2286000"/>
          </a:xfrm>
          <a:prstGeom prst="roundRect">
            <a:avLst>
              <a:gd name="adj" fmla="val 3600"/>
            </a:avLst>
          </a:prstGeom>
          <a:solidFill>
            <a:srgbClr val="241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/ test split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68680" y="4709160"/>
            <a:ext cx="3657600" cy="502920"/>
          </a:xfrm>
          <a:prstGeom prst="roundRect">
            <a:avLst>
              <a:gd name="adj" fmla="val 9091"/>
            </a:avLst>
          </a:prstGeom>
          <a:solidFill>
            <a:srgbClr val="6C4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26280" y="4709160"/>
            <a:ext cx="914400" cy="502920"/>
          </a:xfrm>
          <a:prstGeom prst="roundRect">
            <a:avLst>
              <a:gd name="adj" fmla="val 9091"/>
            </a:avLst>
          </a:prstGeom>
          <a:solidFill>
            <a:srgbClr val="22C9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8680" y="4709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train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26280" y="47091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54406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F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compared: Linear Regression (baseline) · Random Forest (nonlinear, overfitting-resistant) · XGBoost / Decision Tree (comparative).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172200" y="1691640"/>
            <a:ext cx="5422392" cy="4526280"/>
          </a:xfrm>
          <a:prstGeom prst="roundRect">
            <a:avLst>
              <a:gd name="adj" fmla="val 1818"/>
            </a:avLst>
          </a:prstGeom>
          <a:solidFill>
            <a:srgbClr val="241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92240" y="1938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features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92240" y="2468880"/>
            <a:ext cx="2304288" cy="731520"/>
          </a:xfrm>
          <a:prstGeom prst="roundRect">
            <a:avLst>
              <a:gd name="adj" fmla="val 7500"/>
            </a:avLst>
          </a:prstGeom>
          <a:solidFill>
            <a:srgbClr val="171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638544" y="2724912"/>
            <a:ext cx="219456" cy="219456"/>
          </a:xfrm>
          <a:prstGeom prst="ellipse">
            <a:avLst/>
          </a:prstGeom>
          <a:solidFill>
            <a:srgbClr val="6C4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967728" y="24688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8979408" y="2468880"/>
            <a:ext cx="2304288" cy="731520"/>
          </a:xfrm>
          <a:prstGeom prst="roundRect">
            <a:avLst>
              <a:gd name="adj" fmla="val 7500"/>
            </a:avLst>
          </a:prstGeom>
          <a:solidFill>
            <a:srgbClr val="171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9125712" y="2724912"/>
            <a:ext cx="219456" cy="219456"/>
          </a:xfrm>
          <a:prstGeom prst="ellipse">
            <a:avLst/>
          </a:prstGeom>
          <a:solidFill>
            <a:srgbClr val="22C9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454896" y="24688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reviews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492240" y="3364992"/>
            <a:ext cx="2304288" cy="731520"/>
          </a:xfrm>
          <a:prstGeom prst="roundRect">
            <a:avLst>
              <a:gd name="adj" fmla="val 7500"/>
            </a:avLst>
          </a:prstGeom>
          <a:solidFill>
            <a:srgbClr val="171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638544" y="3621024"/>
            <a:ext cx="219456" cy="219456"/>
          </a:xfrm>
          <a:prstGeom prst="ellipse">
            <a:avLst/>
          </a:prstGeom>
          <a:solidFill>
            <a:srgbClr val="6C4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967728" y="336499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reviews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979408" y="3364992"/>
            <a:ext cx="2304288" cy="731520"/>
          </a:xfrm>
          <a:prstGeom prst="roundRect">
            <a:avLst>
              <a:gd name="adj" fmla="val 7500"/>
            </a:avLst>
          </a:prstGeom>
          <a:solidFill>
            <a:srgbClr val="171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9125712" y="3621024"/>
            <a:ext cx="219456" cy="219456"/>
          </a:xfrm>
          <a:prstGeom prst="ellipse">
            <a:avLst/>
          </a:prstGeom>
          <a:solidFill>
            <a:srgbClr val="22C9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9454896" y="336499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492240" y="4261104"/>
            <a:ext cx="2304288" cy="731520"/>
          </a:xfrm>
          <a:prstGeom prst="roundRect">
            <a:avLst>
              <a:gd name="adj" fmla="val 7500"/>
            </a:avLst>
          </a:prstGeom>
          <a:solidFill>
            <a:srgbClr val="171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638544" y="4517136"/>
            <a:ext cx="219456" cy="219456"/>
          </a:xfrm>
          <a:prstGeom prst="ellipse">
            <a:avLst/>
          </a:prstGeom>
          <a:solidFill>
            <a:srgbClr val="6C4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967728" y="4261104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playtime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8979408" y="4261104"/>
            <a:ext cx="2304288" cy="731520"/>
          </a:xfrm>
          <a:prstGeom prst="roundRect">
            <a:avLst>
              <a:gd name="adj" fmla="val 7500"/>
            </a:avLst>
          </a:prstGeom>
          <a:solidFill>
            <a:srgbClr val="171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9125712" y="4517136"/>
            <a:ext cx="219456" cy="219456"/>
          </a:xfrm>
          <a:prstGeom prst="ellipse">
            <a:avLst/>
          </a:prstGeom>
          <a:solidFill>
            <a:srgbClr val="22C9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454896" y="4261104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year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492240" y="5157216"/>
            <a:ext cx="2304288" cy="731520"/>
          </a:xfrm>
          <a:prstGeom prst="roundRect">
            <a:avLst>
              <a:gd name="adj" fmla="val 7500"/>
            </a:avLst>
          </a:prstGeom>
          <a:solidFill>
            <a:srgbClr val="171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6638544" y="5413248"/>
            <a:ext cx="219456" cy="219456"/>
          </a:xfrm>
          <a:prstGeom prst="ellipse">
            <a:avLst/>
          </a:prstGeom>
          <a:solidFill>
            <a:srgbClr val="6C4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967728" y="5157216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indicators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8979408" y="5157216"/>
            <a:ext cx="2304288" cy="731520"/>
          </a:xfrm>
          <a:prstGeom prst="roundRect">
            <a:avLst>
              <a:gd name="adj" fmla="val 7500"/>
            </a:avLst>
          </a:prstGeom>
          <a:solidFill>
            <a:srgbClr val="171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9125712" y="5413248"/>
            <a:ext cx="219456" cy="219456"/>
          </a:xfrm>
          <a:prstGeom prst="ellipse">
            <a:avLst/>
          </a:prstGeom>
          <a:solidFill>
            <a:srgbClr val="22C9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9454896" y="5157216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estimates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6492240" y="5806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2C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MAE · MSE · RMSE · R²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DEVELOPMENT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interactive view of the gaming industry</a:t>
            </a:r>
            <a:endParaRPr lang="en-US" sz="3300" dirty="0"/>
          </a:p>
        </p:txBody>
      </p:sp>
      <p:sp>
        <p:nvSpPr>
          <p:cNvPr id="36" name="Shape 26"/>
          <p:cNvSpPr/>
          <p:nvPr/>
        </p:nvSpPr>
        <p:spPr>
          <a:xfrm>
            <a:off x="594360" y="4754880"/>
            <a:ext cx="11000232" cy="868680"/>
          </a:xfrm>
          <a:prstGeom prst="roundRect">
            <a:avLst>
              <a:gd name="adj" fmla="val 8421"/>
            </a:avLst>
          </a:prstGeom>
          <a:solidFill>
            <a:srgbClr val="171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27"/>
          <p:cNvSpPr/>
          <p:nvPr/>
        </p:nvSpPr>
        <p:spPr>
          <a:xfrm>
            <a:off x="868680" y="4919472"/>
            <a:ext cx="548640" cy="548640"/>
          </a:xfrm>
          <a:prstGeom prst="ellipse">
            <a:avLst/>
          </a:prstGeom>
          <a:solidFill>
            <a:srgbClr val="6C4C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1326" y="5062118"/>
            <a:ext cx="263347" cy="263347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645920" y="475488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9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band  ·  genre  ·  release year  ·  cross-filtering on every visual</a:t>
            </a:r>
            <a:endParaRPr lang="en-US" sz="1400" dirty="0"/>
          </a:p>
        </p:txBody>
      </p:sp>
      <p:sp>
        <p:nvSpPr>
          <p:cNvPr id="40" name="Text 29"/>
          <p:cNvSpPr/>
          <p:nvPr/>
        </p:nvSpPr>
        <p:spPr>
          <a:xfrm>
            <a:off x="59436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</a:t>
            </a:r>
            <a:r>
              <a:rPr lang="en-US" sz="1250" b="1" dirty="0">
                <a:solidFill>
                  <a:srgbClr val="6C4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three interactive pages (</a:t>
            </a:r>
            <a:r>
              <a:rPr lang="en-US" sz="1250" b="1" dirty="0">
                <a:solidFill>
                  <a:srgbClr val="6C4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· Engagement · Sales &amp; Publishers</a:t>
            </a: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— designed for developers, publishers, marketers and researchers.</a:t>
            </a:r>
            <a:endParaRPr lang="en-US" sz="1250" dirty="0"/>
          </a:p>
        </p:txBody>
      </p:sp>
      <p:sp>
        <p:nvSpPr>
          <p:cNvPr id="41" name="TextBox 40"/>
          <p:cNvSpPr txBox="1"/>
          <p:nvPr/>
        </p:nvSpPr>
        <p:spPr>
          <a:xfrm>
            <a:off x="594360" y="1847088"/>
            <a:ext cx="352044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b="1" sz="1300">
                <a:solidFill>
                  <a:srgbClr val="1A1A2E"/>
                </a:solidFill>
              </a:rPr>
              <a:t>Page 1 · Overview</a:t>
            </a:r>
          </a:p>
        </p:txBody>
      </p:sp>
      <p:pic>
        <p:nvPicPr>
          <p:cNvPr id="42" name="Picture 41" descr="dash-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4360" y="2176272"/>
            <a:ext cx="3520440" cy="2036113"/>
          </a:xfrm>
          <a:prstGeom prst="rect">
            <a:avLst/>
          </a:prstGeom>
          <a:ln w="12700">
            <a:solidFill>
              <a:srgbClr val="D0D0D8"/>
            </a:solidFill>
          </a:ln>
        </p:spPr>
      </p:pic>
      <p:sp>
        <p:nvSpPr>
          <p:cNvPr id="43" name="TextBox 42"/>
          <p:cNvSpPr txBox="1"/>
          <p:nvPr/>
        </p:nvSpPr>
        <p:spPr>
          <a:xfrm>
            <a:off x="4334256" y="1847088"/>
            <a:ext cx="352044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b="1" sz="1300">
                <a:solidFill>
                  <a:srgbClr val="1A1A2E"/>
                </a:solidFill>
              </a:rPr>
              <a:t>Page 2 · Engagement</a:t>
            </a:r>
          </a:p>
        </p:txBody>
      </p:sp>
      <p:pic>
        <p:nvPicPr>
          <p:cNvPr id="44" name="Picture 43" descr="dash-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34256" y="2176272"/>
            <a:ext cx="3520440" cy="2036113"/>
          </a:xfrm>
          <a:prstGeom prst="rect">
            <a:avLst/>
          </a:prstGeom>
          <a:ln w="12700">
            <a:solidFill>
              <a:srgbClr val="D0D0D8"/>
            </a:solidFill>
          </a:ln>
        </p:spPr>
      </p:pic>
      <p:sp>
        <p:nvSpPr>
          <p:cNvPr id="45" name="TextBox 44"/>
          <p:cNvSpPr txBox="1"/>
          <p:nvPr/>
        </p:nvSpPr>
        <p:spPr>
          <a:xfrm>
            <a:off x="8074152" y="1847088"/>
            <a:ext cx="352044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b="1" sz="1300">
                <a:solidFill>
                  <a:srgbClr val="1A1A2E"/>
                </a:solidFill>
              </a:rPr>
              <a:t>Page 3 · Sales &amp; Publishers</a:t>
            </a:r>
          </a:p>
        </p:txBody>
      </p:sp>
      <p:pic>
        <p:nvPicPr>
          <p:cNvPr id="46" name="Picture 45" descr="dash-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74152" y="2176272"/>
            <a:ext cx="3520440" cy="2036113"/>
          </a:xfrm>
          <a:prstGeom prst="rect">
            <a:avLst/>
          </a:prstGeom>
          <a:ln w="12700">
            <a:solidFill>
              <a:srgbClr val="D0D0D8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 · 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Higher-priced games hold players longer</a:t>
            </a:r>
            <a:endParaRPr lang="en-US" sz="3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94360" y="173736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737360"/>
            <a:ext cx="3959352" cy="4480560"/>
          </a:xfrm>
          <a:prstGeom prst="roundRect">
            <a:avLst>
              <a:gd name="adj" fmla="val 2079"/>
            </a:avLst>
          </a:prstGeom>
          <a:solidFill>
            <a:srgbClr val="EDE9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955280" y="2103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+71%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955280" y="2971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playtime for the highest price band vs free games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955280" y="3794760"/>
            <a:ext cx="3291840" cy="0"/>
          </a:xfrm>
          <a:prstGeom prst="line">
            <a:avLst/>
          </a:prstGeom>
          <a:noFill/>
          <a:ln w="12700">
            <a:solidFill>
              <a:srgbClr val="6C4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955280" y="39776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playtime rises with price group — players invest more time in games they've paid more for, though the trend dips slightly at the 'High' band.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 · GENRES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players spend their hours</a:t>
            </a:r>
            <a:endParaRPr lang="en-US" sz="3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94360" y="1691640"/>
          <a:ext cx="6858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91640"/>
            <a:ext cx="3776472" cy="4572000"/>
          </a:xfrm>
          <a:prstGeom prst="roundRect">
            <a:avLst>
              <a:gd name="adj" fmla="val 2179"/>
            </a:avLst>
          </a:prstGeom>
          <a:solidFill>
            <a:srgbClr val="171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138160" y="2011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surprise at the top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38160" y="24688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Creative-tool categories on Steam — Audio, Web and Video Production — log the longest sessions of all, ahead of traditional game genres.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138160" y="40233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2C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2,073 min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8138160" y="47091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F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playtime for Audio Production — over 3× the Free To Play average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 &amp; RQ4 · ENGAGEMENT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Multiplayer keeps players coming back</a:t>
            </a:r>
            <a:endParaRPr lang="en-US" sz="3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94360" y="1783080"/>
          <a:ext cx="521208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94360" y="5623560"/>
            <a:ext cx="5212080" cy="685800"/>
          </a:xfrm>
          <a:prstGeom prst="roundRect">
            <a:avLst>
              <a:gd name="adj" fmla="val 9333"/>
            </a:avLst>
          </a:prstGeom>
          <a:solidFill>
            <a:srgbClr val="EDE9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562356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4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+74%  </a:t>
            </a:r>
            <a:r>
              <a:rPr lang="en-US" sz="120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average sessions in multiplayer titles — a strong retention signal.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63640" y="1783080"/>
            <a:ext cx="5330952" cy="4526280"/>
          </a:xfrm>
          <a:prstGeom prst="roundRect">
            <a:avLst>
              <a:gd name="adj" fmla="val 1818"/>
            </a:avLst>
          </a:prstGeom>
          <a:solidFill>
            <a:srgbClr val="E4F8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583680" y="2103120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0591" y="2260031"/>
            <a:ext cx="289682" cy="28968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60920" y="2194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Ratings: a subtler story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583680" y="288036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analysis shows a broad, dispersed relationship between positive-rating percentage and peak CCU — higher-rated games generally reach higher peak concurrency.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583680" y="42062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C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−0.0018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6583680" y="48463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correlation between positive-rating % and peak CCU — near zero, meaning rating percentage alone doesn't predict popularity linearly. Volume of feedback matters more than its ratio.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RQ5 · PUBLISHERS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Valve towers over the adoption charts</a:t>
            </a:r>
            <a:endParaRPr lang="en-US" sz="3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94360" y="1691640"/>
          <a:ext cx="72237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691640"/>
            <a:ext cx="3410712" cy="4572000"/>
          </a:xfrm>
          <a:prstGeom prst="roundRect">
            <a:avLst>
              <a:gd name="adj" fmla="val 2413"/>
            </a:avLst>
          </a:prstGeom>
          <a:solidFill>
            <a:srgbClr val="EDE9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03920" y="21031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5.5×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8503920" y="297180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Valve's lead over the #2 publisher (KRAFTON) in estimated owners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03920" y="3931920"/>
            <a:ext cx="2788920" cy="0"/>
          </a:xfrm>
          <a:prstGeom prst="line">
            <a:avLst/>
          </a:prstGeom>
          <a:noFill/>
          <a:ln w="12700">
            <a:solidFill>
              <a:srgbClr val="6C4C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503920" y="4114800"/>
            <a:ext cx="2788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the platform and shipping evergreen titles compounds: Valve's catalogue dwarfs even global AAA publishers on its own storefront.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RQ6 · PLATFORMS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PS2 era still defines peak sales</a:t>
            </a:r>
            <a:endParaRPr lang="en-US" sz="3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94360" y="1737360"/>
          <a:ext cx="722376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737360"/>
            <a:ext cx="3410712" cy="4526280"/>
          </a:xfrm>
          <a:prstGeom prst="roundRect">
            <a:avLst>
              <a:gd name="adj" fmla="val 2413"/>
            </a:avLst>
          </a:prstGeom>
          <a:solidFill>
            <a:srgbClr val="171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03920" y="214884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22C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1.26B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8503920" y="30175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F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on PlayStation 2 — the highest-grossing platform in the dataset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03920" y="4023360"/>
            <a:ext cx="2788920" cy="0"/>
          </a:xfrm>
          <a:prstGeom prst="line">
            <a:avLst/>
          </a:prstGeom>
          <a:noFill/>
          <a:ln w="12700">
            <a:solidFill>
              <a:srgbClr val="22C9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503920" y="4206240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generations dominate the historical sales record: PS2, X360, PS3 and Wii together account for over 4 billion units.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RQ8 · RELEASE TIMING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evergreen years dominate activity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7406640" cy="4160520"/>
          </a:xfrm>
          <a:prstGeom prst="roundRect">
            <a:avLst>
              <a:gd name="adj" fmla="val 1978"/>
            </a:avLst>
          </a:prstGeom>
          <a:solidFill>
            <a:srgbClr val="FAFAFC"/>
          </a:solidFill>
          <a:ln w="12700">
            <a:solidFill>
              <a:srgbClr val="E4E1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mnt/user-data/uploads/RQ8_Game_Age_vs_Player_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48840"/>
            <a:ext cx="694944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60350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A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peak CCU by release year (EDA output)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275320" y="1783080"/>
            <a:ext cx="3319272" cy="4526280"/>
          </a:xfrm>
          <a:prstGeom prst="roundRect">
            <a:avLst>
              <a:gd name="adj" fmla="val 2479"/>
            </a:avLst>
          </a:prstGeom>
          <a:solidFill>
            <a:srgbClr val="1712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49640" y="2084832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towering spikes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49640" y="269748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CF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released around 2000 and 2012 average by far the highest peak concurrency — evergreen classics from those years still hold massive player bases decades 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549640" y="4251960"/>
            <a:ext cx="2788920" cy="0"/>
          </a:xfrm>
          <a:prstGeom prst="line">
            <a:avLst/>
          </a:prstGeom>
          <a:noFill/>
          <a:ln w="12700">
            <a:solidFill>
              <a:srgbClr val="22C9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549640" y="44348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Post-2014 flattens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549640" y="4800600"/>
            <a:ext cx="2788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CF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years average far lower — thousands of new releases dilute the mean, so age alone doesn't drive engagement; a handful of enduring hits does.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RQ9 · REGIONS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taste splits sharply by geography</a:t>
            </a:r>
            <a:endParaRPr lang="en-US" sz="3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94360" y="1737360"/>
          <a:ext cx="740664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737360"/>
            <a:ext cx="3227832" cy="4526280"/>
          </a:xfrm>
          <a:prstGeom prst="roundRect">
            <a:avLst>
              <a:gd name="adj" fmla="val 2550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641080" y="205740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 flips the script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41080" y="265176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Role-Playing is Japan's #1 genre (352M units) — outselling Action there, while Shooters barely register at 38M.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41080" y="397764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NA and EU, Action, Sports and Shooter dominate — evidence that genre strategy and marketing must be regionalized.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RQ7 &amp; RQ10 · PREDICTION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predicts peak players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 with Peak CCU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2148840"/>
            <a:ext cx="5029200" cy="822960"/>
          </a:xfrm>
          <a:prstGeom prst="roundRect">
            <a:avLst>
              <a:gd name="adj" fmla="val 7778"/>
            </a:avLst>
          </a:prstGeom>
          <a:solidFill>
            <a:srgbClr val="EDE9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0.131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057400" y="2148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driver of peak concurrency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108960"/>
            <a:ext cx="5029200" cy="822960"/>
          </a:xfrm>
          <a:prstGeom prst="roundRect">
            <a:avLst>
              <a:gd name="adj" fmla="val 7778"/>
            </a:avLst>
          </a:prstGeom>
          <a:solidFill>
            <a:srgbClr val="E4F8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C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0.093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057400" y="3108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reviews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criticism signals attention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069080"/>
            <a:ext cx="5029200" cy="822960"/>
          </a:xfrm>
          <a:prstGeom prst="roundRect">
            <a:avLst>
              <a:gd name="adj" fmla="val 7778"/>
            </a:avLst>
          </a:prstGeom>
          <a:solidFill>
            <a:srgbClr val="FDF3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4069080"/>
            <a:ext cx="1143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57400" y="40690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of the measured factors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51663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7A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reviews and recommendations move together (r = 0.90) — engaged communities generate both.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148840"/>
          <a:ext cx="534924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A35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71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1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1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71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Shape 14"/>
          <p:cNvSpPr/>
          <p:nvPr/>
        </p:nvSpPr>
        <p:spPr>
          <a:xfrm>
            <a:off x="6217920" y="397764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EDE9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492240" y="425196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886" y="4394606"/>
            <a:ext cx="263347" cy="26334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23760" y="4160520"/>
            <a:ext cx="4160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3000"/>
              </a:lnSpc>
              <a:buNone/>
            </a:pPr>
            <a:r>
              <a:rPr lang="en-US" sz="1400" b="1" dirty="0">
                <a:solidFill>
                  <a:srgbClr val="171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wins — with a caveat</a:t>
            </a:r>
            <a:endParaRPr lang="en-US" sz="1400" dirty="0"/>
          </a:p>
          <a:p>
            <a:pPr marL="0" indent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beats Linear Regression on every metric by capturing nonlinear relationships. Low R² overall shows popularity is driven by many factors beyond the modeled attributes — hype, marketing, timing.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658368"/>
            <a:ext cx="11000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takeaways for the industry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11000232" cy="777240"/>
          </a:xfrm>
          <a:prstGeom prst="roundRect">
            <a:avLst>
              <a:gd name="adj" fmla="val 8235"/>
            </a:avLst>
          </a:prstGeom>
          <a:solidFill>
            <a:srgbClr val="EDE9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65376"/>
            <a:ext cx="521208" cy="5212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754" y="2000890"/>
            <a:ext cx="250180" cy="250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373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isn't destiny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023360" y="173736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alone is not a strong predictor of engagement — value perception matters more than the tag.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94360" y="2651760"/>
            <a:ext cx="11000232" cy="777240"/>
          </a:xfrm>
          <a:prstGeom prst="roundRect">
            <a:avLst>
              <a:gd name="adj" fmla="val 8235"/>
            </a:avLst>
          </a:prstGeom>
          <a:solidFill>
            <a:srgbClr val="E4F8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77240" y="2779776"/>
            <a:ext cx="521208" cy="5212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754" y="2915290"/>
            <a:ext cx="250180" cy="2501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651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is fuel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023360" y="265176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reviews and ownership estimates show the strongest links to popularity.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94360" y="3566160"/>
            <a:ext cx="11000232" cy="777240"/>
          </a:xfrm>
          <a:prstGeom prst="roundRect">
            <a:avLst>
              <a:gd name="adj" fmla="val 8235"/>
            </a:avLst>
          </a:prstGeom>
          <a:solidFill>
            <a:srgbClr val="EDE9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77240" y="3694176"/>
            <a:ext cx="521208" cy="5212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754" y="3829690"/>
            <a:ext cx="250180" cy="2501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566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for together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023360" y="356616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Multiplayer-enabled games consistently show higher retention and activity.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94360" y="4480560"/>
            <a:ext cx="11000232" cy="777240"/>
          </a:xfrm>
          <a:prstGeom prst="roundRect">
            <a:avLst>
              <a:gd name="adj" fmla="val 8235"/>
            </a:avLst>
          </a:prstGeom>
          <a:solidFill>
            <a:srgbClr val="E4F8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77240" y="4608576"/>
            <a:ext cx="521208" cy="5212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754" y="4744090"/>
            <a:ext cx="250180" cy="2501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480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Nonlinear wins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023360" y="448056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outperforms Linear Regression by capturing complex, nonlinear relationships.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94360" y="5394960"/>
            <a:ext cx="11000232" cy="777240"/>
          </a:xfrm>
          <a:prstGeom prst="roundRect">
            <a:avLst>
              <a:gd name="adj" fmla="val 8235"/>
            </a:avLst>
          </a:prstGeom>
          <a:solidFill>
            <a:srgbClr val="EDE9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77240" y="5522976"/>
            <a:ext cx="521208" cy="52120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754" y="5658490"/>
            <a:ext cx="250180" cy="2501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5394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1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Genre + voice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023360" y="539496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3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and player feedback are among the most influential predictors of game success.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389120"/>
            <a:ext cx="4389120" cy="4389120"/>
          </a:xfrm>
          <a:prstGeom prst="ellipse">
            <a:avLst/>
          </a:prstGeom>
          <a:solidFill>
            <a:srgbClr val="6C4CF1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2C9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decisions for the games industry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6916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F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Steam data, carefully preprocessed and modeled, yields meaningful insight into what drives player engagement — supporting developers and publishers in pricing, marketing, genre selection and game design.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834640"/>
            <a:ext cx="2048256" cy="2423160"/>
          </a:xfrm>
          <a:prstGeom prst="roundRect">
            <a:avLst>
              <a:gd name="adj" fmla="val 3571"/>
            </a:avLst>
          </a:prstGeom>
          <a:solidFill>
            <a:srgbClr val="241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53312" y="3108960"/>
            <a:ext cx="530352" cy="530352"/>
          </a:xfrm>
          <a:prstGeom prst="ellipse">
            <a:avLst/>
          </a:prstGeom>
          <a:solidFill>
            <a:srgbClr val="6C4C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204" y="3246852"/>
            <a:ext cx="254569" cy="2545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79476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31520" y="4206240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F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models for improved prediction accuracy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825496" y="2834640"/>
            <a:ext cx="2048256" cy="2423160"/>
          </a:xfrm>
          <a:prstGeom prst="roundRect">
            <a:avLst>
              <a:gd name="adj" fmla="val 3571"/>
            </a:avLst>
          </a:prstGeom>
          <a:solidFill>
            <a:srgbClr val="241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584448" y="3108960"/>
            <a:ext cx="530352" cy="530352"/>
          </a:xfrm>
          <a:prstGeom prst="ellipse">
            <a:avLst/>
          </a:prstGeom>
          <a:solidFill>
            <a:srgbClr val="22C99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2340" y="3246852"/>
            <a:ext cx="254569" cy="25456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16936" y="379476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on reviews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2962656" y="4206240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F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game descriptions and review sentiment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56632" y="2834640"/>
            <a:ext cx="2048256" cy="2423160"/>
          </a:xfrm>
          <a:prstGeom prst="roundRect">
            <a:avLst>
              <a:gd name="adj" fmla="val 3571"/>
            </a:avLst>
          </a:prstGeom>
          <a:solidFill>
            <a:srgbClr val="241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815584" y="3108960"/>
            <a:ext cx="530352" cy="530352"/>
          </a:xfrm>
          <a:prstGeom prst="ellipse">
            <a:avLst/>
          </a:prstGeom>
          <a:solidFill>
            <a:srgbClr val="6C4C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476" y="3246852"/>
            <a:ext cx="254569" cy="25456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48072" y="379476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Steam data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193792" y="4206240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F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integration with live statistics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287768" y="2834640"/>
            <a:ext cx="2048256" cy="2423160"/>
          </a:xfrm>
          <a:prstGeom prst="roundRect">
            <a:avLst>
              <a:gd name="adj" fmla="val 3571"/>
            </a:avLst>
          </a:prstGeom>
          <a:solidFill>
            <a:srgbClr val="241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8046720" y="3108960"/>
            <a:ext cx="530352" cy="530352"/>
          </a:xfrm>
          <a:prstGeom prst="ellipse">
            <a:avLst/>
          </a:prstGeom>
          <a:solidFill>
            <a:srgbClr val="22C99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4612" y="3246852"/>
            <a:ext cx="254569" cy="25456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79208" y="379476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Recommenders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7424928" y="4206240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F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 from preferences and play history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9518904" y="2834640"/>
            <a:ext cx="2048256" cy="2423160"/>
          </a:xfrm>
          <a:prstGeom prst="roundRect">
            <a:avLst>
              <a:gd name="adj" fmla="val 3571"/>
            </a:avLst>
          </a:prstGeom>
          <a:solidFill>
            <a:srgbClr val="241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10277856" y="3108960"/>
            <a:ext cx="530352" cy="530352"/>
          </a:xfrm>
          <a:prstGeom prst="ellipse">
            <a:avLst/>
          </a:prstGeom>
          <a:solidFill>
            <a:srgbClr val="6C4C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5748" y="3246852"/>
            <a:ext cx="254569" cy="254569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610344" y="379476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Richer features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9656064" y="4206240"/>
            <a:ext cx="17739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CF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reputation, update frequency and more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594360" y="5715000"/>
            <a:ext cx="11000232" cy="0"/>
          </a:xfrm>
          <a:prstGeom prst="line">
            <a:avLst/>
          </a:prstGeom>
          <a:noFill/>
          <a:ln w="12700">
            <a:solidFill>
              <a:srgbClr val="3A31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59436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FC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Integrated Gaming Analytics Dashboard  ·  University of Europe for Applied Sciences, Germany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1497</Words>
  <Application>Microsoft Office PowerPoint</Application>
  <PresentationFormat>Widescreen</PresentationFormat>
  <Paragraphs>228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Hitesh Venkata Sai Manchala</cp:lastModifiedBy>
  <cp:revision>2</cp:revision>
  <dcterms:created xsi:type="dcterms:W3CDTF">2026-07-10T14:43:33Z</dcterms:created>
  <dcterms:modified xsi:type="dcterms:W3CDTF">2026-07-10T14:56:20Z</dcterms:modified>
</cp:coreProperties>
</file>