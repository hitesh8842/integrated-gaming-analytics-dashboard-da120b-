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74320"/>
            <a:ext cx="2286000" cy="228600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2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66928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200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DA120B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65760" y="102412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Gaming Analytics Dashboard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365760" y="16642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analysis of game performance · player engagement · business insights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148840"/>
            <a:ext cx="8412480" cy="3200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267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2505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HITESH8842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514600" y="2267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514600" y="2505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DA120B Analytics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2267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63440" y="2505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12280" y="2267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12280" y="25054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May 2026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2971800"/>
            <a:ext cx="85039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2971800"/>
            <a:ext cx="8503920" cy="457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017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3310128"/>
            <a:ext cx="1627632" cy="1005840"/>
          </a:xfrm>
          <a:prstGeom prst="rect">
            <a:avLst/>
          </a:prstGeom>
          <a:solidFill>
            <a:srgbClr val="58A6FF">
              <a:alpha val="10000"/>
            </a:srgbClr>
          </a:solidFill>
          <a:ln w="12700">
            <a:solidFill>
              <a:srgbClr val="58A6FF">
                <a:alpha val="3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3310128"/>
            <a:ext cx="1627632" cy="411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" y="3364992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 Venkata Sai Manchala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21408" y="3310128"/>
            <a:ext cx="1627632" cy="1005840"/>
          </a:xfrm>
          <a:prstGeom prst="rect">
            <a:avLst/>
          </a:prstGeom>
          <a:solidFill>
            <a:srgbClr val="A371F7">
              <a:alpha val="10000"/>
            </a:srgbClr>
          </a:solidFill>
          <a:ln w="12700">
            <a:solidFill>
              <a:srgbClr val="A371F7">
                <a:alpha val="38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21408" y="3310128"/>
            <a:ext cx="1627632" cy="4114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94560" y="3364992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Navaneeth Narayanan Potty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831336" y="3310128"/>
            <a:ext cx="1627632" cy="1005840"/>
          </a:xfrm>
          <a:prstGeom prst="rect">
            <a:avLst/>
          </a:prstGeom>
          <a:solidFill>
            <a:srgbClr val="3FB950">
              <a:alpha val="10000"/>
            </a:srgbClr>
          </a:solidFill>
          <a:ln w="12700">
            <a:solidFill>
              <a:srgbClr val="3FB950">
                <a:alpha val="38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31336" y="3310128"/>
            <a:ext cx="1627632" cy="411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04488" y="3364992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 Mikkineni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41264" y="3310128"/>
            <a:ext cx="1627632" cy="1005840"/>
          </a:xfrm>
          <a:prstGeom prst="rect">
            <a:avLst/>
          </a:prstGeom>
          <a:solidFill>
            <a:srgbClr val="F0883E">
              <a:alpha val="10000"/>
            </a:srgbClr>
          </a:solidFill>
          <a:ln w="12700">
            <a:solidFill>
              <a:srgbClr val="F0883E">
                <a:alpha val="38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41264" y="3310128"/>
            <a:ext cx="1627632" cy="4114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14416" y="3364992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Abinav Reddy Tirumala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251192" y="3310128"/>
            <a:ext cx="1627632" cy="1005840"/>
          </a:xfrm>
          <a:prstGeom prst="rect">
            <a:avLst/>
          </a:prstGeom>
          <a:solidFill>
            <a:srgbClr val="58A6FF">
              <a:alpha val="10000"/>
            </a:srgbClr>
          </a:solidFill>
          <a:ln w="12700">
            <a:solidFill>
              <a:srgbClr val="58A6FF">
                <a:alpha val="38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251192" y="3310128"/>
            <a:ext cx="1627632" cy="411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24344" y="3364992"/>
            <a:ext cx="1481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Madhavapeddy Achyuth Reddy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6576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github.com/HITESH8842/INTEGRATED-GAMING-ANALYTICS-DASHBOARD-DA120B-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41148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14400"/>
            <a:ext cx="54864" cy="11155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4128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005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138988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engagement, sales, reviews, and metadata are stored in completely separate datasets with no unified view.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74320" y="2212848"/>
            <a:ext cx="41148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" y="2212848"/>
            <a:ext cx="54864" cy="111556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2257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3042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Insights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" y="268833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games, successful genres, sales trends, and player behavior patterns remain buried in data silos.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274320" y="3511296"/>
            <a:ext cx="41148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320" y="3511296"/>
            <a:ext cx="54864" cy="11155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2102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60273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Gap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398678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companies cannot effectively identify performance drivers without cross-dataset analysis in one place.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709160" y="914400"/>
            <a:ext cx="4114800" cy="3931920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914400"/>
            <a:ext cx="41148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8920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92040" y="1508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integrate multiple gaming datasets to support better reporting and decision-making through a unified analytics platform.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395728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66360" y="2377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popular games and top genres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798064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66360" y="27797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global &amp; regional sales trends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200400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66360" y="3182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player behavior patterns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602736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66360" y="35844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review &amp; rating analysis</a:t>
            </a:r>
            <a:endParaRPr lang="en-US" sz="11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4005072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166360" y="3986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KPI-driven dashboard insights</a:t>
            </a:r>
            <a:endParaRPr lang="en-US" sz="11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4407408"/>
            <a:ext cx="201168" cy="20116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166360" y="4389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business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914400"/>
            <a:ext cx="28346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914400"/>
            <a:ext cx="283464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1069848"/>
            <a:ext cx="502920" cy="502920"/>
          </a:xfrm>
          <a:prstGeom prst="ellipse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0881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87552" y="1115568"/>
            <a:ext cx="1975104" cy="310896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>
                <a:alpha val="3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111556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 Games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166420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Games Dataset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4048" y="207568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fronkongames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4048" y="239572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71576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AppID, Name, Price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303580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" y="2990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CCU, Avg Playtime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35584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Reviews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367588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" y="3630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Genres, Publishers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399592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" y="3950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6032" y="4462272"/>
            <a:ext cx="2834640" cy="384048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4805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engagement, popularity, ratings &amp; ML prediction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0" y="914400"/>
            <a:ext cx="28346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0" y="914400"/>
            <a:ext cx="2834640" cy="6400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28416" y="1069848"/>
            <a:ext cx="502920" cy="502920"/>
          </a:xfrm>
          <a:prstGeom prst="ellipse">
            <a:avLst/>
          </a:prstGeom>
          <a:solidFill>
            <a:srgbClr val="A371F7">
              <a:alpha val="22000"/>
            </a:srgbClr>
          </a:solidFill>
          <a:ln w="12700">
            <a:solidFill>
              <a:srgbClr val="A371F7">
                <a:alpha val="4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28416" y="10881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931920" y="1115568"/>
            <a:ext cx="1975104" cy="310896"/>
          </a:xfrm>
          <a:prstGeom prst="rect">
            <a:avLst/>
          </a:prstGeom>
          <a:solidFill>
            <a:srgbClr val="A371F7">
              <a:alpha val="20000"/>
            </a:srgbClr>
          </a:solidFill>
          <a:ln w="12700">
            <a:solidFill>
              <a:srgbClr val="A371F7">
                <a:alpha val="3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111556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16,500+ Games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328416" y="166420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328416" y="207568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gregorut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328416" y="239572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355848" y="2715768"/>
            <a:ext cx="91440" cy="91440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20440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Platform, Year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355848" y="3035808"/>
            <a:ext cx="91440" cy="91440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520440" y="2990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Publisher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355848" y="3355848"/>
            <a:ext cx="91440" cy="91440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520440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/ EU / JP Sales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355848" y="3675888"/>
            <a:ext cx="91440" cy="91440"/>
          </a:xfrm>
          <a:prstGeom prst="ellipse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520440" y="3630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Sales Figures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00400" y="4462272"/>
            <a:ext cx="2834640" cy="384048"/>
          </a:xfrm>
          <a:prstGeom prst="rect">
            <a:avLst/>
          </a:prstGeom>
          <a:solidFill>
            <a:srgbClr val="A371F7">
              <a:alpha val="15000"/>
            </a:srgbClr>
          </a:solidFill>
          <a:ln w="12700">
            <a:solidFill>
              <a:srgbClr val="A371F7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310128" y="44805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performance &amp; regional sales trends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144768" y="914400"/>
            <a:ext cx="28346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144768" y="914400"/>
            <a:ext cx="283464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72784" y="1069848"/>
            <a:ext cx="502920" cy="502920"/>
          </a:xfrm>
          <a:prstGeom prst="ellipse">
            <a:avLst/>
          </a:prstGeom>
          <a:solidFill>
            <a:srgbClr val="3FB950">
              <a:alpha val="22000"/>
            </a:srgbClr>
          </a:solidFill>
          <a:ln w="12700">
            <a:solidFill>
              <a:srgbClr val="3FB950">
                <a:alpha val="4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272784" y="10881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876288" y="1115568"/>
            <a:ext cx="1975104" cy="310896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>
                <a:alpha val="35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76288" y="111556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27,000+ Games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272784" y="166420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Store Games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6272784" y="207568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nikdavis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272784" y="2395728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300216" y="2715768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64808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Metadata &amp; Categories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300216" y="3035808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64808" y="2990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&amp; Release Date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6300216" y="3355848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64808" y="3310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Support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300216" y="3675888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464808" y="3630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Information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144768" y="4462272"/>
            <a:ext cx="2834640" cy="384048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3FB950">
                <a:alpha val="30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254496" y="44805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Steam data with store features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6112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&amp; ANALYTICS LAYER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32688"/>
            <a:ext cx="13258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32688"/>
            <a:ext cx="13258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1078992"/>
            <a:ext cx="457200" cy="457200"/>
          </a:xfrm>
          <a:prstGeom prst="ellipse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>
                <a:alpha val="4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106424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74320" y="198424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download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 load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618488" y="150876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719072" y="932688"/>
            <a:ext cx="13258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719072" y="932688"/>
            <a:ext cx="132588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148840" y="1078992"/>
            <a:ext cx="457200" cy="457200"/>
          </a:xfrm>
          <a:prstGeom prst="ellipse">
            <a:avLst/>
          </a:prstGeom>
          <a:solidFill>
            <a:srgbClr val="A371F7">
              <a:alpha val="22000"/>
            </a:srgbClr>
          </a:solidFill>
          <a:ln w="12700">
            <a:solidFill>
              <a:srgbClr val="A371F7">
                <a:alpha val="45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10642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19072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719072" y="198424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063240" y="150876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163824" y="932688"/>
            <a:ext cx="13258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163824" y="932688"/>
            <a:ext cx="132588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593592" y="1078992"/>
            <a:ext cx="457200" cy="457200"/>
          </a:xfrm>
          <a:prstGeom prst="ellipse">
            <a:avLst/>
          </a:prstGeom>
          <a:solidFill>
            <a:srgbClr val="F0883E">
              <a:alpha val="22000"/>
            </a:srgbClr>
          </a:solidFill>
          <a:ln w="12700">
            <a:solidFill>
              <a:srgbClr val="F0883E">
                <a:alpha val="4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10642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163824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163824" y="198424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 name,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07992" y="150876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608576" y="932688"/>
            <a:ext cx="13258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8576" y="932688"/>
            <a:ext cx="132588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038344" y="1078992"/>
            <a:ext cx="457200" cy="457200"/>
          </a:xfrm>
          <a:prstGeom prst="ellipse">
            <a:avLst/>
          </a:prstGeom>
          <a:solidFill>
            <a:srgbClr val="3FB950">
              <a:alpha val="22000"/>
            </a:srgbClr>
          </a:solidFill>
          <a:ln w="12700">
            <a:solidFill>
              <a:srgbClr val="3FB950">
                <a:alpha val="4500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106424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08576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608576" y="198424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952744" y="150876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6053328" y="932688"/>
            <a:ext cx="13258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053328" y="932688"/>
            <a:ext cx="13258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483096" y="1078992"/>
            <a:ext cx="457200" cy="457200"/>
          </a:xfrm>
          <a:prstGeom prst="ellipse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106424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053328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6053328" y="198424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KPIs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397496" y="150876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7498080" y="932688"/>
            <a:ext cx="1325880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498080" y="932688"/>
            <a:ext cx="132588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927848" y="1078992"/>
            <a:ext cx="457200" cy="457200"/>
          </a:xfrm>
          <a:prstGeom prst="ellipse">
            <a:avLst/>
          </a:prstGeom>
          <a:solidFill>
            <a:srgbClr val="A371F7">
              <a:alpha val="22000"/>
            </a:srgbClr>
          </a:solidFill>
          <a:ln w="12700">
            <a:solidFill>
              <a:srgbClr val="A371F7">
                <a:alpha val="45000"/>
              </a:srgbClr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424" y="1106424"/>
            <a:ext cx="384048" cy="3840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498080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7498080" y="198424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Plotly, Power BI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36576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Outputs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274320" y="3127248"/>
            <a:ext cx="2066544" cy="402336"/>
          </a:xfrm>
          <a:prstGeom prst="rect">
            <a:avLst/>
          </a:prstGeom>
          <a:solidFill>
            <a:srgbClr val="58A6FF">
              <a:alpha val="16000"/>
            </a:srgbClr>
          </a:solidFill>
          <a:ln w="12700">
            <a:solidFill>
              <a:srgbClr val="58A6FF">
                <a:alpha val="35000"/>
              </a:srgbClr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274320" y="312724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2468880" y="3127248"/>
            <a:ext cx="2066544" cy="402336"/>
          </a:xfrm>
          <a:prstGeom prst="rect">
            <a:avLst/>
          </a:prstGeom>
          <a:solidFill>
            <a:srgbClr val="A371F7">
              <a:alpha val="16000"/>
            </a:srgbClr>
          </a:solidFill>
          <a:ln w="12700">
            <a:solidFill>
              <a:srgbClr val="A371F7">
                <a:alpha val="35000"/>
              </a:srgbClr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2468880" y="312724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4663440" y="3127248"/>
            <a:ext cx="2066544" cy="402336"/>
          </a:xfrm>
          <a:prstGeom prst="rect">
            <a:avLst/>
          </a:prstGeom>
          <a:solidFill>
            <a:srgbClr val="F0883E">
              <a:alpha val="16000"/>
            </a:srgbClr>
          </a:solidFill>
          <a:ln w="12700">
            <a:solidFill>
              <a:srgbClr val="F0883E">
                <a:alpha val="35000"/>
              </a:srgbClr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4663440" y="312724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Analysis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6858000" y="3127248"/>
            <a:ext cx="2066544" cy="402336"/>
          </a:xfrm>
          <a:prstGeom prst="rect">
            <a:avLst/>
          </a:prstGeom>
          <a:solidFill>
            <a:srgbClr val="3FB950">
              <a:alpha val="16000"/>
            </a:srgbClr>
          </a:solidFill>
          <a:ln w="12700">
            <a:solidFill>
              <a:srgbClr val="3FB950">
                <a:alpha val="35000"/>
              </a:srgbClr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6858000" y="312724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Rating</a:t>
            </a:r>
            <a:endParaRPr lang="en-US" sz="1050" dirty="0"/>
          </a:p>
        </p:txBody>
      </p:sp>
      <p:sp>
        <p:nvSpPr>
          <p:cNvPr id="55" name="Shape 46"/>
          <p:cNvSpPr/>
          <p:nvPr/>
        </p:nvSpPr>
        <p:spPr>
          <a:xfrm>
            <a:off x="274320" y="3675888"/>
            <a:ext cx="2066544" cy="402336"/>
          </a:xfrm>
          <a:prstGeom prst="rect">
            <a:avLst/>
          </a:prstGeom>
          <a:solidFill>
            <a:srgbClr val="58A6FF">
              <a:alpha val="16000"/>
            </a:srgbClr>
          </a:solidFill>
          <a:ln w="12700">
            <a:solidFill>
              <a:srgbClr val="58A6FF">
                <a:alpha val="35000"/>
              </a:srgbClr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274320" y="367588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Engagement</a:t>
            </a:r>
            <a:endParaRPr lang="en-US" sz="1050" dirty="0"/>
          </a:p>
        </p:txBody>
      </p:sp>
      <p:sp>
        <p:nvSpPr>
          <p:cNvPr id="57" name="Shape 48"/>
          <p:cNvSpPr/>
          <p:nvPr/>
        </p:nvSpPr>
        <p:spPr>
          <a:xfrm>
            <a:off x="2468880" y="3675888"/>
            <a:ext cx="2066544" cy="402336"/>
          </a:xfrm>
          <a:prstGeom prst="rect">
            <a:avLst/>
          </a:prstGeom>
          <a:solidFill>
            <a:srgbClr val="A371F7">
              <a:alpha val="16000"/>
            </a:srgbClr>
          </a:solidFill>
          <a:ln w="12700">
            <a:solidFill>
              <a:srgbClr val="A371F7">
                <a:alpha val="35000"/>
              </a:srgbClr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2468880" y="367588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Analysis</a:t>
            </a:r>
            <a:endParaRPr lang="en-US" sz="1050" dirty="0"/>
          </a:p>
        </p:txBody>
      </p:sp>
      <p:sp>
        <p:nvSpPr>
          <p:cNvPr id="59" name="Shape 50"/>
          <p:cNvSpPr/>
          <p:nvPr/>
        </p:nvSpPr>
        <p:spPr>
          <a:xfrm>
            <a:off x="4663440" y="3675888"/>
            <a:ext cx="2066544" cy="402336"/>
          </a:xfrm>
          <a:prstGeom prst="rect">
            <a:avLst/>
          </a:prstGeom>
          <a:solidFill>
            <a:srgbClr val="F0883E">
              <a:alpha val="16000"/>
            </a:srgbClr>
          </a:solidFill>
          <a:ln w="12700">
            <a:solidFill>
              <a:srgbClr val="F0883E">
                <a:alpha val="35000"/>
              </a:srgbClr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4663440" y="367588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Trends</a:t>
            </a:r>
            <a:endParaRPr lang="en-US" sz="1050" dirty="0"/>
          </a:p>
        </p:txBody>
      </p:sp>
      <p:sp>
        <p:nvSpPr>
          <p:cNvPr id="61" name="Shape 52"/>
          <p:cNvSpPr/>
          <p:nvPr/>
        </p:nvSpPr>
        <p:spPr>
          <a:xfrm>
            <a:off x="6858000" y="3675888"/>
            <a:ext cx="2066544" cy="402336"/>
          </a:xfrm>
          <a:prstGeom prst="rect">
            <a:avLst/>
          </a:prstGeom>
          <a:solidFill>
            <a:srgbClr val="3FB950">
              <a:alpha val="16000"/>
            </a:srgbClr>
          </a:solidFill>
          <a:ln w="12700">
            <a:solidFill>
              <a:srgbClr val="3FB950">
                <a:alpha val="35000"/>
              </a:srgbClr>
            </a:solidFill>
            <a:prstDash val="solid"/>
          </a:ln>
        </p:spPr>
      </p:sp>
      <p:sp>
        <p:nvSpPr>
          <p:cNvPr id="62" name="Text 53"/>
          <p:cNvSpPr/>
          <p:nvPr/>
        </p:nvSpPr>
        <p:spPr>
          <a:xfrm>
            <a:off x="6858000" y="367588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&amp; MILESTONES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1840" y="850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06240" y="850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120640" y="850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0" y="850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49440" y="850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63840" y="850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6032" y="1161288"/>
            <a:ext cx="8631936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" y="12252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 &amp; Setup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1225296"/>
            <a:ext cx="868680" cy="210312"/>
          </a:xfrm>
          <a:prstGeom prst="rect">
            <a:avLst/>
          </a:prstGeom>
          <a:solidFill>
            <a:srgbClr val="58A6FF">
              <a:alpha val="62000"/>
            </a:srgbClr>
          </a:solidFill>
          <a:ln w="12700">
            <a:solidFill>
              <a:srgbClr val="58A6FF">
                <a:alpha val="7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6032" y="1563624"/>
            <a:ext cx="8631936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" y="16276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91840" y="1627632"/>
            <a:ext cx="1783080" cy="210312"/>
          </a:xfrm>
          <a:prstGeom prst="rect">
            <a:avLst/>
          </a:prstGeom>
          <a:solidFill>
            <a:srgbClr val="A371F7">
              <a:alpha val="62000"/>
            </a:srgbClr>
          </a:solidFill>
          <a:ln w="12700">
            <a:solidFill>
              <a:srgbClr val="A371F7">
                <a:alpha val="7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1965960"/>
            <a:ext cx="8631936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9184" y="20299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Workflow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06240" y="2029968"/>
            <a:ext cx="868680" cy="210312"/>
          </a:xfrm>
          <a:prstGeom prst="rect">
            <a:avLst/>
          </a:prstGeom>
          <a:solidFill>
            <a:srgbClr val="3FB950">
              <a:alpha val="62000"/>
            </a:srgbClr>
          </a:solidFill>
          <a:ln w="12700">
            <a:solidFill>
              <a:srgbClr val="3FB950">
                <a:alpha val="7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" y="2368296"/>
            <a:ext cx="8631936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" y="24323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120640" y="2432304"/>
            <a:ext cx="1783080" cy="210312"/>
          </a:xfrm>
          <a:prstGeom prst="rect">
            <a:avLst/>
          </a:prstGeom>
          <a:solidFill>
            <a:srgbClr val="F0883E">
              <a:alpha val="62000"/>
            </a:srgbClr>
          </a:solidFill>
          <a:ln w="12700">
            <a:solidFill>
              <a:srgbClr val="F0883E">
                <a:alpha val="78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2770632"/>
            <a:ext cx="8631936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" y="28346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35040" y="2834640"/>
            <a:ext cx="868680" cy="210312"/>
          </a:xfrm>
          <a:prstGeom prst="rect">
            <a:avLst/>
          </a:prstGeom>
          <a:solidFill>
            <a:srgbClr val="58A6FF">
              <a:alpha val="62000"/>
            </a:srgbClr>
          </a:solidFill>
          <a:ln w="12700">
            <a:solidFill>
              <a:srgbClr val="58A6FF">
                <a:alpha val="78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56032" y="3172968"/>
            <a:ext cx="8631936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" y="32369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35040" y="3236976"/>
            <a:ext cx="1783080" cy="210312"/>
          </a:xfrm>
          <a:prstGeom prst="rect">
            <a:avLst/>
          </a:prstGeom>
          <a:solidFill>
            <a:srgbClr val="A371F7">
              <a:alpha val="62000"/>
            </a:srgbClr>
          </a:solidFill>
          <a:ln w="12700">
            <a:solidFill>
              <a:srgbClr val="A371F7">
                <a:alpha val="78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6032" y="3575304"/>
            <a:ext cx="8631936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9184" y="36393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35040" y="3639312"/>
            <a:ext cx="1783080" cy="210312"/>
          </a:xfrm>
          <a:prstGeom prst="rect">
            <a:avLst/>
          </a:prstGeom>
          <a:solidFill>
            <a:srgbClr val="3FB950">
              <a:alpha val="62000"/>
            </a:srgbClr>
          </a:solidFill>
          <a:ln w="12700">
            <a:solidFill>
              <a:srgbClr val="3FB950">
                <a:alpha val="78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6032" y="3977640"/>
            <a:ext cx="8631936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9184" y="40416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Improvements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949440" y="4041648"/>
            <a:ext cx="868680" cy="210312"/>
          </a:xfrm>
          <a:prstGeom prst="rect">
            <a:avLst/>
          </a:prstGeom>
          <a:solidFill>
            <a:srgbClr val="F0883E">
              <a:alpha val="62000"/>
            </a:srgbClr>
          </a:solidFill>
          <a:ln w="12700">
            <a:solidFill>
              <a:srgbClr val="F0883E">
                <a:alpha val="78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" y="4379976"/>
            <a:ext cx="8631936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9184" y="44439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Report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949440" y="4443984"/>
            <a:ext cx="1783080" cy="210312"/>
          </a:xfrm>
          <a:prstGeom prst="rect">
            <a:avLst/>
          </a:prstGeom>
          <a:solidFill>
            <a:srgbClr val="58A6FF">
              <a:alpha val="62000"/>
            </a:srgbClr>
          </a:solidFill>
          <a:ln w="12700">
            <a:solidFill>
              <a:srgbClr val="58A6FF">
                <a:alpha val="78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56032" y="4782312"/>
            <a:ext cx="8631936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>
                <a:alpha val="2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9184" y="48463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863840" y="4846320"/>
            <a:ext cx="868680" cy="210312"/>
          </a:xfrm>
          <a:prstGeom prst="rect">
            <a:avLst/>
          </a:prstGeom>
          <a:solidFill>
            <a:srgbClr val="F85149">
              <a:alpha val="62000"/>
            </a:srgbClr>
          </a:solidFill>
          <a:ln w="12700">
            <a:solidFill>
              <a:srgbClr val="F85149">
                <a:alpha val="78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C2128"/>
          </a:solidFill>
          <a:ln w="12700">
            <a:solidFill>
              <a:srgbClr val="1C212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37160" y="48006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Setup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636776" y="48006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Data Collect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136392" y="48006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Clean &amp; Integrate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636008" y="48006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Analysis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135624" y="48006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Dashboard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635240" y="480060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M6: Final Report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32688"/>
            <a:ext cx="2798064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32688"/>
            <a:ext cx="2798064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" y="1097280"/>
            <a:ext cx="475488" cy="475488"/>
          </a:xfrm>
          <a:prstGeom prst="ellipse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>
                <a:alpha val="4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4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115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20624" y="172821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182112" y="932688"/>
            <a:ext cx="2798064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182112" y="932688"/>
            <a:ext cx="2798064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28416" y="1097280"/>
            <a:ext cx="475488" cy="475488"/>
          </a:xfrm>
          <a:prstGeom prst="ellipse">
            <a:avLst/>
          </a:prstGeom>
          <a:solidFill>
            <a:srgbClr val="A371F7">
              <a:alpha val="22000"/>
            </a:srgbClr>
          </a:solidFill>
          <a:ln w="12700">
            <a:solidFill>
              <a:srgbClr val="A371F7">
                <a:alpha val="45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1247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31920" y="1115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28416" y="172821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89904" y="932688"/>
            <a:ext cx="2798064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89904" y="932688"/>
            <a:ext cx="2798064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36208" y="1097280"/>
            <a:ext cx="475488" cy="475488"/>
          </a:xfrm>
          <a:prstGeom prst="ellipse">
            <a:avLst/>
          </a:prstGeom>
          <a:solidFill>
            <a:srgbClr val="3FB950">
              <a:alpha val="22000"/>
            </a:srgbClr>
          </a:solidFill>
          <a:ln w="12700">
            <a:solidFill>
              <a:srgbClr val="3FB950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12471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39712" y="1115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36208" y="172821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· PostgreSQL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74320" y="2852928"/>
            <a:ext cx="2798064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2852928"/>
            <a:ext cx="2798064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20624" y="3017520"/>
            <a:ext cx="475488" cy="475488"/>
          </a:xfrm>
          <a:prstGeom prst="ellipse">
            <a:avLst/>
          </a:prstGeom>
          <a:solidFill>
            <a:srgbClr val="F0883E">
              <a:alpha val="22000"/>
            </a:srgbClr>
          </a:solidFill>
          <a:ln w="12700">
            <a:solidFill>
              <a:srgbClr val="F0883E">
                <a:alpha val="45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4495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24128" y="3035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20624" y="364845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· Power BI / Tableau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182112" y="2852928"/>
            <a:ext cx="2798064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182112" y="2852928"/>
            <a:ext cx="2798064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28416" y="3017520"/>
            <a:ext cx="475488" cy="475488"/>
          </a:xfrm>
          <a:prstGeom prst="ellipse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>
                <a:alpha val="4500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044952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931920" y="3035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328416" y="364845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089904" y="2852928"/>
            <a:ext cx="2798064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089904" y="2852928"/>
            <a:ext cx="2798064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236208" y="3017520"/>
            <a:ext cx="475488" cy="475488"/>
          </a:xfrm>
          <a:prstGeom prst="ellipse">
            <a:avLst/>
          </a:prstGeom>
          <a:solidFill>
            <a:srgbClr val="A371F7">
              <a:alpha val="22000"/>
            </a:srgbClr>
          </a:solidFill>
          <a:ln w="12700">
            <a:solidFill>
              <a:srgbClr val="A371F7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3044952"/>
            <a:ext cx="402336" cy="40233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839712" y="30358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236208" y="3648456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4160520" cy="3913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1005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HITESH8842 / INTEGRATED-GAMING-ANALYTICS-DASHBOARD-DA120B-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11480" y="148132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Data/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11480" y="17556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Raw/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02996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Processed/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230428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Source/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257860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data_cleaning.py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285292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data_integration.py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31272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analytics.py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340156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Dashboard/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367588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dashboard_file.pbix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395020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Documentation/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422452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Reports/  📁 Logs/  📁 Figures/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" y="449884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README.md  ·  requirements.txt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914400"/>
            <a:ext cx="41605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46320" y="1005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Responsibilities</a:t>
            </a:r>
            <a:endParaRPr lang="en-US" sz="13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6464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93208" y="1408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maintain GitHub repository</a:t>
            </a:r>
            <a:endParaRPr lang="en-US" sz="10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00784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93208" y="1682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MS Teams channel</a:t>
            </a:r>
            <a:endParaRPr lang="en-US" sz="10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75104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93208" y="1956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 to team members</a:t>
            </a:r>
            <a:endParaRPr lang="en-US" sz="10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249424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93208" y="2231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README.md &amp; daily logs</a:t>
            </a:r>
            <a:endParaRPr lang="en-US" sz="10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523744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093208" y="2505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weekly progress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4709160" y="2980944"/>
            <a:ext cx="416052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484632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References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846320" y="345643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010912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Popularity of Games on Steam (arXiv, 2021)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846320" y="377647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010912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Study of Delayed Steam Games (2022)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846320" y="409651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010912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Sales Prediction – ML Model (2024)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4846320" y="441655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5010912" y="4370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Review Sentiment – BiLSTM (2026)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LOG &amp; NEXT STEPS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4114800" cy="3913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024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  —  30 May 2026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" y="14447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project title &amp; team name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1051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512" y="17922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full problem analysis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157984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7512" y="2139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and documented 3 datasets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505456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512" y="24871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system workflow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852928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7512" y="28346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project execution plan</a:t>
            </a:r>
            <a:endParaRPr lang="en-US" sz="10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00400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67512" y="3182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Gantt chart (6 weeks)</a:t>
            </a:r>
            <a:endParaRPr lang="en-US" sz="10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547872"/>
            <a:ext cx="182880" cy="18288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67512" y="3529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all tools and technologies</a:t>
            </a:r>
            <a:endParaRPr lang="en-US" sz="10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3895344"/>
            <a:ext cx="182880" cy="1828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67512" y="3877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GitHub folder structure</a:t>
            </a:r>
            <a:endParaRPr lang="en-US" sz="10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4242816"/>
            <a:ext cx="182880" cy="18288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67512" y="4224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MS Teams discussion update</a:t>
            </a:r>
            <a:endParaRPr lang="en-US" sz="1050" dirty="0"/>
          </a:p>
        </p:txBody>
      </p:sp>
      <p:sp>
        <p:nvSpPr>
          <p:cNvPr id="26" name="Shape 14"/>
          <p:cNvSpPr/>
          <p:nvPr/>
        </p:nvSpPr>
        <p:spPr>
          <a:xfrm>
            <a:off x="4709160" y="914400"/>
            <a:ext cx="4114800" cy="391363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15"/>
          <p:cNvSpPr/>
          <p:nvPr/>
        </p:nvSpPr>
        <p:spPr>
          <a:xfrm>
            <a:off x="4709160" y="914400"/>
            <a:ext cx="41148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8" name="Text 16"/>
          <p:cNvSpPr/>
          <p:nvPr/>
        </p:nvSpPr>
        <p:spPr>
          <a:xfrm>
            <a:off x="4846320" y="10241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</a:t>
            </a:r>
            <a:endParaRPr lang="en-US" sz="1200" dirty="0"/>
          </a:p>
        </p:txBody>
      </p:sp>
      <p:sp>
        <p:nvSpPr>
          <p:cNvPr id="29" name="Shape 17"/>
          <p:cNvSpPr/>
          <p:nvPr/>
        </p:nvSpPr>
        <p:spPr>
          <a:xfrm>
            <a:off x="4846320" y="1481328"/>
            <a:ext cx="3794760" cy="438912"/>
          </a:xfrm>
          <a:prstGeom prst="rect">
            <a:avLst/>
          </a:prstGeom>
          <a:solidFill>
            <a:srgbClr val="F0883E">
              <a:alpha val="12000"/>
            </a:srgbClr>
          </a:solidFill>
          <a:ln w="12700">
            <a:solidFill>
              <a:srgbClr val="F0883E">
                <a:alpha val="30000"/>
              </a:srgbClr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4846320" y="1481328"/>
            <a:ext cx="54864" cy="43891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4956048" y="1563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5394960" y="1563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all three Kaggle datasets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4846320" y="2011680"/>
            <a:ext cx="3794760" cy="438912"/>
          </a:xfrm>
          <a:prstGeom prst="rect">
            <a:avLst/>
          </a:prstGeom>
          <a:solidFill>
            <a:srgbClr val="F0883E">
              <a:alpha val="12000"/>
            </a:srgbClr>
          </a:solidFill>
          <a:ln w="12700">
            <a:solidFill>
              <a:srgbClr val="F0883E">
                <a:alpha val="30000"/>
              </a:srgbClr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4846320" y="2011680"/>
            <a:ext cx="54864" cy="43891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4956048" y="2093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5394960" y="2093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raw data to Data/Raw folder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846320" y="2542032"/>
            <a:ext cx="3794760" cy="438912"/>
          </a:xfrm>
          <a:prstGeom prst="rect">
            <a:avLst/>
          </a:prstGeom>
          <a:solidFill>
            <a:srgbClr val="F0883E">
              <a:alpha val="12000"/>
            </a:srgbClr>
          </a:solidFill>
          <a:ln w="12700">
            <a:solidFill>
              <a:srgbClr val="F0883E">
                <a:alpha val="30000"/>
              </a:srgbClr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4846320" y="2542032"/>
            <a:ext cx="54864" cy="43891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4956048" y="2624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5394960" y="2624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data cleaning pipeline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4846320" y="3072384"/>
            <a:ext cx="3794760" cy="438912"/>
          </a:xfrm>
          <a:prstGeom prst="rect">
            <a:avLst/>
          </a:prstGeom>
          <a:solidFill>
            <a:srgbClr val="F0883E">
              <a:alpha val="12000"/>
            </a:srgbClr>
          </a:solidFill>
          <a:ln w="12700">
            <a:solidFill>
              <a:srgbClr val="F0883E">
                <a:alpha val="30000"/>
              </a:srgbClr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4846320" y="3072384"/>
            <a:ext cx="54864" cy="43891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4956048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539496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 dictionary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4846320" y="3602736"/>
            <a:ext cx="3794760" cy="438912"/>
          </a:xfrm>
          <a:prstGeom prst="rect">
            <a:avLst/>
          </a:prstGeom>
          <a:solidFill>
            <a:srgbClr val="F0883E">
              <a:alpha val="12000"/>
            </a:srgbClr>
          </a:solidFill>
          <a:ln w="12700">
            <a:solidFill>
              <a:srgbClr val="F0883E">
                <a:alpha val="30000"/>
              </a:srgbClr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4846320" y="3602736"/>
            <a:ext cx="54864" cy="43891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4956048" y="3685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8" name="Text 36"/>
          <p:cNvSpPr/>
          <p:nvPr/>
        </p:nvSpPr>
        <p:spPr>
          <a:xfrm>
            <a:off x="5394960" y="3685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Exploratory Data Analysis</a:t>
            </a:r>
            <a:endParaRPr lang="en-US" sz="1100" dirty="0"/>
          </a:p>
        </p:txBody>
      </p:sp>
      <p:sp>
        <p:nvSpPr>
          <p:cNvPr id="49" name="Shape 37"/>
          <p:cNvSpPr/>
          <p:nvPr/>
        </p:nvSpPr>
        <p:spPr>
          <a:xfrm>
            <a:off x="4846320" y="4251960"/>
            <a:ext cx="3794760" cy="475488"/>
          </a:xfrm>
          <a:prstGeom prst="rect">
            <a:avLst/>
          </a:prstGeom>
          <a:solidFill>
            <a:srgbClr val="3FB950">
              <a:alpha val="16000"/>
            </a:srgbClr>
          </a:solidFill>
          <a:ln w="12700">
            <a:solidFill>
              <a:srgbClr val="3FB950">
                <a:alpha val="35000"/>
              </a:srgbClr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4956048" y="43342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STATUS: IN PROGRESS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55448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32688"/>
            <a:ext cx="8503920" cy="621792"/>
          </a:xfrm>
          <a:prstGeom prst="rect">
            <a:avLst/>
          </a:prstGeom>
          <a:solidFill>
            <a:srgbClr val="1C2128"/>
          </a:solidFill>
          <a:ln w="12700">
            <a:solidFill>
              <a:srgbClr val="58A6FF">
                <a:alpha val="4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29844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DA120B Integrated Gaming Analytics Dashboard unifies Steam, sales, and store data into one analytics platform — enabling clear, data-driven gaming business decisions.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719072"/>
            <a:ext cx="2770632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719072"/>
            <a:ext cx="2770632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" y="1865376"/>
            <a:ext cx="420624" cy="420624"/>
          </a:xfrm>
          <a:prstGeom prst="ellipse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928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8408" y="18836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Integrated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48056" y="235915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 Steam games, 16,500+ sales records, and 27,000+ store entries unified into one seamless analytics pipeline.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0" y="1719072"/>
            <a:ext cx="2770632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0" y="1719072"/>
            <a:ext cx="2770632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28416" y="1865376"/>
            <a:ext cx="420624" cy="420624"/>
          </a:xfrm>
          <a:prstGeom prst="ellipse">
            <a:avLst/>
          </a:prstGeom>
          <a:solidFill>
            <a:srgbClr val="A371F7">
              <a:alpha val="22000"/>
            </a:srgbClr>
          </a:solidFill>
          <a:ln w="12700">
            <a:solidFill>
              <a:srgbClr val="A371F7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89280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58768" y="18836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ETL Pipeline Built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328416" y="235915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ingestion → cleaning → integration → EDA → KPI analysis → interactive dashboard.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080760" y="1719072"/>
            <a:ext cx="2770632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080760" y="1719072"/>
            <a:ext cx="2770632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08776" y="1865376"/>
            <a:ext cx="420624" cy="420624"/>
          </a:xfrm>
          <a:prstGeom prst="ellipse">
            <a:avLst/>
          </a:prstGeom>
          <a:solidFill>
            <a:srgbClr val="F0883E">
              <a:alpha val="22000"/>
            </a:srgbClr>
          </a:solidFill>
          <a:ln w="12700">
            <a:solidFill>
              <a:srgbClr val="F0883E">
                <a:alpha val="45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9280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39128" y="188366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208776" y="235915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 dashboard with KPI cards, genre, regional sales, and player engagement views.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0040" y="3337560"/>
            <a:ext cx="8503920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02920" y="341985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Impact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94760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58952" y="376732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top-performing games, genres, and publishers across all platforms</a:t>
            </a:r>
            <a:endParaRPr lang="en-US" sz="10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23944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952" y="40965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regional sales trends (NA, EU, JP) and global commercial patterns</a:t>
            </a:r>
            <a:endParaRPr lang="en-US" sz="1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79476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010912" y="376732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actionable KPIs for stakeholders via a filterable, interactive dashboard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123944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10912" y="409651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scalable ETL framework reusable for future gaming data projects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2500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4764024"/>
            <a:ext cx="347472" cy="32918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77240" y="48097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DA120B Integrated Gaming Analytics Dashboard  ·  github.com/HITESH8842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DA120B Integrated Gaming Analytics Dashboard</dc:title>
  <dc:subject>PptxGenJS Presentation</dc:subject>
  <dc:creator>PptxGenJS</dc:creator>
  <cp:lastModifiedBy>PptxGenJS</cp:lastModifiedBy>
  <cp:revision>1</cp:revision>
  <dcterms:created xsi:type="dcterms:W3CDTF">2026-06-06T09:59:55Z</dcterms:created>
  <dcterms:modified xsi:type="dcterms:W3CDTF">2026-06-06T09:59:55Z</dcterms:modified>
</cp:coreProperties>
</file>